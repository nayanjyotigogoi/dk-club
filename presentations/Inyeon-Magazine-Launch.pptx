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1">
    <p:present/>
    <p:sldAll/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18292" y="320040"/>
            <a:ext cx="4379043" cy="621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8C4"/>
            </a:solidFill>
            <a:prstDash val="solid"/>
          </a:ln>
          <a:effectLst>
            <a:outerShdw sx="100000" sy="100000" kx="0" ky="0" algn="bl" rotWithShape="0" blurRad="139700" dist="50800" dir="5400000">
              <a:srgbClr val="6B5A4A">
                <a:alpha val="28000"/>
              </a:srgbClr>
            </a:outerShdw>
          </a:effectLst>
        </p:spPr>
      </p:sp>
      <p:pic>
        <p:nvPicPr>
          <p:cNvPr id="3" name="Image 0" descr="orig/0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9732" y="411480"/>
            <a:ext cx="4196163" cy="6035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05840"/>
            <a:ext cx="60752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6E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</a:t>
            </a:r>
            <a:endParaRPr lang="en-US" sz="10000" dirty="0"/>
          </a:p>
        </p:txBody>
      </p:sp>
      <p:sp>
        <p:nvSpPr>
          <p:cNvPr id="5" name="Text 2"/>
          <p:cNvSpPr/>
          <p:nvPr/>
        </p:nvSpPr>
        <p:spPr>
          <a:xfrm>
            <a:off x="822960" y="2651760"/>
            <a:ext cx="60752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spc="600" kern="0" dirty="0">
                <a:solidFill>
                  <a:srgbClr val="9A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 Y E O 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3291840"/>
            <a:ext cx="60752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A8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fated thread that quietly binds people together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4251960"/>
            <a:ext cx="6075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6E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Magazine Launch
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Dibrugarh University Korean Club
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August 2026</a:t>
            </a:r>
            <a:endParaRPr lang="en-US" sz="1700" dirty="0"/>
          </a:p>
        </p:txBody>
      </p:sp>
    </p:spTree>
  </p:cSld>
  <p:clrMapOvr>
    <a:masterClrMapping/>
  </p:clrMapOvr>
  <p:transition xmlns:p="http://schemas.openxmlformats.org/presentationml/2006/main" spd="slow" advTm="80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49202" y="411480"/>
            <a:ext cx="4293291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8C4"/>
            </a:solidFill>
            <a:prstDash val="solid"/>
          </a:ln>
          <a:effectLst>
            <a:outerShdw sx="100000" sy="100000" kx="0" ky="0" algn="bl" rotWithShape="0" blurRad="139700" dist="50800" dir="5400000">
              <a:srgbClr val="6B5A4A">
                <a:alpha val="28000"/>
              </a:srgbClr>
            </a:outerShdw>
          </a:effectLst>
        </p:spPr>
      </p:sp>
      <p:pic>
        <p:nvPicPr>
          <p:cNvPr id="3" name="Image 0" descr="orig/2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0642" y="502920"/>
            <a:ext cx="4110411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905695" y="256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6163056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E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pPr algn="ctr" indent="0" marL="0">
              <a:lnSpc>
                <a:spcPct val="115000"/>
              </a:lnSpc>
              <a:buNone/>
            </a:pP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7A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1900" dirty="0"/>
          </a:p>
        </p:txBody>
      </p:sp>
    </p:spTree>
  </p:cSld>
  <p:clrMapOvr>
    <a:masterClrMapping/>
  </p:clrMapOvr>
  <p:transition xmlns:p="http://schemas.openxmlformats.org/presentationml/2006/main" spd="slow" advTm="60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6332" y="411480"/>
            <a:ext cx="4499031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8C4"/>
            </a:solidFill>
            <a:prstDash val="solid"/>
          </a:ln>
          <a:effectLst>
            <a:outerShdw sx="100000" sy="100000" kx="0" ky="0" algn="bl" rotWithShape="0" blurRad="139700" dist="50800" dir="5400000">
              <a:srgbClr val="6B5A4A">
                <a:alpha val="28000"/>
              </a:srgbClr>
            </a:outerShdw>
          </a:effectLst>
        </p:spPr>
      </p:sp>
      <p:pic>
        <p:nvPicPr>
          <p:cNvPr id="3" name="Image 0" descr="orig/0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7772" y="502920"/>
            <a:ext cx="4316151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905695" y="256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6163056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E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Contributors</a:t>
            </a:r>
            <a:pPr algn="ctr" indent="0" marL="0">
              <a:lnSpc>
                <a:spcPct val="115000"/>
              </a:lnSpc>
              <a:buNone/>
            </a:pP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7A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기고자</a:t>
            </a:r>
            <a:endParaRPr lang="en-US" sz="1900" dirty="0"/>
          </a:p>
        </p:txBody>
      </p:sp>
    </p:spTree>
  </p:cSld>
  <p:clrMapOvr>
    <a:masterClrMapping/>
  </p:clrMapOvr>
  <p:transition xmlns:p="http://schemas.openxmlformats.org/presentationml/2006/main" spd="slow" advTm="60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6309" y="411480"/>
            <a:ext cx="4319077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8C4"/>
            </a:solidFill>
            <a:prstDash val="solid"/>
          </a:ln>
          <a:effectLst>
            <a:outerShdw sx="100000" sy="100000" kx="0" ky="0" algn="bl" rotWithShape="0" blurRad="139700" dist="50800" dir="5400000">
              <a:srgbClr val="6B5A4A">
                <a:alpha val="28000"/>
              </a:srgbClr>
            </a:outerShdw>
          </a:effectLst>
        </p:spPr>
      </p:sp>
      <p:pic>
        <p:nvPicPr>
          <p:cNvPr id="3" name="Image 0" descr="orig/2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7749" y="502920"/>
            <a:ext cx="4136197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905695" y="256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6163056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E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Journey with the Korean Language</a:t>
            </a:r>
            <a:pPr algn="ctr" indent="0" marL="0">
              <a:lnSpc>
                <a:spcPct val="115000"/>
              </a:lnSpc>
              <a:buNone/>
            </a:pP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7A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한국어와 함께한 나의 여정</a:t>
            </a:r>
            <a:endParaRPr lang="en-US" sz="1900" dirty="0"/>
          </a:p>
        </p:txBody>
      </p:sp>
    </p:spTree>
  </p:cSld>
  <p:clrMapOvr>
    <a:masterClrMapping/>
  </p:clrMapOvr>
  <p:transition xmlns:p="http://schemas.openxmlformats.org/presentationml/2006/main" spd="slow" advTm="60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83492" y="411480"/>
            <a:ext cx="4224711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8C4"/>
            </a:solidFill>
            <a:prstDash val="solid"/>
          </a:ln>
          <a:effectLst>
            <a:outerShdw sx="100000" sy="100000" kx="0" ky="0" algn="bl" rotWithShape="0" blurRad="139700" dist="50800" dir="5400000">
              <a:srgbClr val="6B5A4A">
                <a:alpha val="28000"/>
              </a:srgbClr>
            </a:outerShdw>
          </a:effectLst>
        </p:spPr>
      </p:sp>
      <p:pic>
        <p:nvPicPr>
          <p:cNvPr id="3" name="Image 0" descr="orig/2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4932" y="502920"/>
            <a:ext cx="4041831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905695" y="256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6163056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E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Journey with the Korean Language</a:t>
            </a:r>
            <a:pPr algn="ctr" indent="0" marL="0">
              <a:lnSpc>
                <a:spcPct val="115000"/>
              </a:lnSpc>
              <a:buNone/>
            </a:pP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7A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이어서 · continued</a:t>
            </a:r>
            <a:endParaRPr lang="en-US" sz="1900" dirty="0"/>
          </a:p>
        </p:txBody>
      </p:sp>
    </p:spTree>
  </p:cSld>
  <p:clrMapOvr>
    <a:masterClrMapping/>
  </p:clrMapOvr>
  <p:transition xmlns:p="http://schemas.openxmlformats.org/presentationml/2006/main" spd="slow" advTm="60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24788" y="411480"/>
            <a:ext cx="4342120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8C4"/>
            </a:solidFill>
            <a:prstDash val="solid"/>
          </a:ln>
          <a:effectLst>
            <a:outerShdw sx="100000" sy="100000" kx="0" ky="0" algn="bl" rotWithShape="0" blurRad="139700" dist="50800" dir="5400000">
              <a:srgbClr val="6B5A4A">
                <a:alpha val="28000"/>
              </a:srgbClr>
            </a:outerShdw>
          </a:effectLst>
        </p:spPr>
      </p:sp>
      <p:pic>
        <p:nvPicPr>
          <p:cNvPr id="3" name="Image 0" descr="orig/2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6228" y="502920"/>
            <a:ext cx="4159240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905695" y="256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6163056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E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in K-Dramas</a:t>
            </a:r>
            <a:pPr algn="ctr" indent="0" marL="0">
              <a:lnSpc>
                <a:spcPct val="115000"/>
              </a:lnSpc>
              <a:buNone/>
            </a:pP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7A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드라마 속 음식</a:t>
            </a:r>
            <a:endParaRPr lang="en-US" sz="1900" dirty="0"/>
          </a:p>
        </p:txBody>
      </p:sp>
    </p:spTree>
  </p:cSld>
  <p:clrMapOvr>
    <a:masterClrMapping/>
  </p:clrMapOvr>
  <p:transition xmlns:p="http://schemas.openxmlformats.org/presentationml/2006/main" spd="slow" advTm="60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0" y="411480"/>
            <a:ext cx="4190695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8C4"/>
            </a:solidFill>
            <a:prstDash val="solid"/>
          </a:ln>
          <a:effectLst>
            <a:outerShdw sx="100000" sy="100000" kx="0" ky="0" algn="bl" rotWithShape="0" blurRad="139700" dist="50800" dir="5400000">
              <a:srgbClr val="6B5A4A">
                <a:alpha val="28000"/>
              </a:srgbClr>
            </a:outerShdw>
          </a:effectLst>
        </p:spPr>
      </p:sp>
      <p:pic>
        <p:nvPicPr>
          <p:cNvPr id="3" name="Image 0" descr="orig/0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1940" y="502920"/>
            <a:ext cx="4007815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905695" y="256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6163056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E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Stories of the Past — Historical K-Dramas &amp; Webtoons</a:t>
            </a:r>
            <a:endParaRPr lang="en-US" sz="1900" dirty="0"/>
          </a:p>
        </p:txBody>
      </p:sp>
    </p:spTree>
  </p:cSld>
  <p:clrMapOvr>
    <a:masterClrMapping/>
  </p:clrMapOvr>
  <p:transition xmlns:p="http://schemas.openxmlformats.org/presentationml/2006/main" spd="slow" advTm="60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17107" y="411480"/>
            <a:ext cx="4357482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8C4"/>
            </a:solidFill>
            <a:prstDash val="solid"/>
          </a:ln>
          <a:effectLst>
            <a:outerShdw sx="100000" sy="100000" kx="0" ky="0" algn="bl" rotWithShape="0" blurRad="139700" dist="50800" dir="5400000">
              <a:srgbClr val="6B5A4A">
                <a:alpha val="28000"/>
              </a:srgbClr>
            </a:outerShdw>
          </a:effectLst>
        </p:spPr>
      </p:sp>
      <p:pic>
        <p:nvPicPr>
          <p:cNvPr id="3" name="Image 0" descr="orig/05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8547" y="502920"/>
            <a:ext cx="4174602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905695" y="256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6163056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E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Stories of the Past</a:t>
            </a:r>
            <a:pPr algn="ctr" indent="0" marL="0">
              <a:lnSpc>
                <a:spcPct val="115000"/>
              </a:lnSpc>
              <a:buNone/>
            </a:pP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7A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이어서 · continued</a:t>
            </a:r>
            <a:endParaRPr lang="en-US" sz="1900" dirty="0"/>
          </a:p>
        </p:txBody>
      </p:sp>
    </p:spTree>
  </p:cSld>
  <p:clrMapOvr>
    <a:masterClrMapping/>
  </p:clrMapOvr>
  <p:transition xmlns:p="http://schemas.openxmlformats.org/presentationml/2006/main" spd="slow" advTm="60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68405" y="411480"/>
            <a:ext cx="4254886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8C4"/>
            </a:solidFill>
            <a:prstDash val="solid"/>
          </a:ln>
          <a:effectLst>
            <a:outerShdw sx="100000" sy="100000" kx="0" ky="0" algn="bl" rotWithShape="0" blurRad="139700" dist="50800" dir="5400000">
              <a:srgbClr val="6B5A4A">
                <a:alpha val="28000"/>
              </a:srgbClr>
            </a:outerShdw>
          </a:effectLst>
        </p:spPr>
      </p:sp>
      <p:pic>
        <p:nvPicPr>
          <p:cNvPr id="3" name="Image 0" descr="orig/2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9845" y="502920"/>
            <a:ext cx="4072006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905695" y="256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6163056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E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 &amp; Reflections</a:t>
            </a:r>
            <a:endParaRPr lang="en-US" sz="1900" dirty="0"/>
          </a:p>
        </p:txBody>
      </p:sp>
    </p:spTree>
  </p:cSld>
  <p:clrMapOvr>
    <a:masterClrMapping/>
  </p:clrMapOvr>
  <p:transition xmlns:p="http://schemas.openxmlformats.org/presentationml/2006/main" spd="slow" advTm="60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27805" y="411480"/>
            <a:ext cx="4336085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8C4"/>
            </a:solidFill>
            <a:prstDash val="solid"/>
          </a:ln>
          <a:effectLst>
            <a:outerShdw sx="100000" sy="100000" kx="0" ky="0" algn="bl" rotWithShape="0" blurRad="139700" dist="50800" dir="5400000">
              <a:srgbClr val="6B5A4A">
                <a:alpha val="28000"/>
              </a:srgbClr>
            </a:outerShdw>
          </a:effectLst>
        </p:spPr>
      </p:sp>
      <p:pic>
        <p:nvPicPr>
          <p:cNvPr id="3" name="Image 0" descr="orig/19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9245" y="502920"/>
            <a:ext cx="4153205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905695" y="256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6163056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E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 Gallery</a:t>
            </a:r>
            <a:pPr algn="ctr" indent="0" marL="0">
              <a:lnSpc>
                <a:spcPct val="115000"/>
              </a:lnSpc>
              <a:buNone/>
            </a:pP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7A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 갤러리</a:t>
            </a:r>
            <a:endParaRPr lang="en-US" sz="1900" dirty="0"/>
          </a:p>
        </p:txBody>
      </p:sp>
    </p:spTree>
  </p:cSld>
  <p:clrMapOvr>
    <a:masterClrMapping/>
  </p:clrMapOvr>
  <p:transition xmlns:p="http://schemas.openxmlformats.org/presentationml/2006/main" spd="slow" advTm="60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47008" y="411480"/>
            <a:ext cx="4297680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8C4"/>
            </a:solidFill>
            <a:prstDash val="solid"/>
          </a:ln>
          <a:effectLst>
            <a:outerShdw sx="100000" sy="100000" kx="0" ky="0" algn="bl" rotWithShape="0" blurRad="139700" dist="50800" dir="5400000">
              <a:srgbClr val="6B5A4A">
                <a:alpha val="28000"/>
              </a:srgbClr>
            </a:outerShdw>
          </a:effectLst>
        </p:spPr>
      </p:sp>
      <p:pic>
        <p:nvPicPr>
          <p:cNvPr id="3" name="Image 0" descr="orig/17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448" y="502920"/>
            <a:ext cx="4114800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905695" y="256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6163056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E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Television Screens to Cultural Bonds</a:t>
            </a:r>
            <a:endParaRPr lang="en-US" sz="1900" dirty="0"/>
          </a:p>
        </p:txBody>
      </p:sp>
    </p:spTree>
  </p:cSld>
  <p:clrMapOvr>
    <a:masterClrMapping/>
  </p:clrMapOvr>
  <p:transition xmlns:p="http://schemas.openxmlformats.org/presentationml/2006/main" spd="slow" advTm="60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57706" y="411480"/>
            <a:ext cx="4276283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8C4"/>
            </a:solidFill>
            <a:prstDash val="solid"/>
          </a:ln>
          <a:effectLst>
            <a:outerShdw sx="100000" sy="100000" kx="0" ky="0" algn="bl" rotWithShape="0" blurRad="139700" dist="50800" dir="5400000">
              <a:srgbClr val="6B5A4A">
                <a:alpha val="28000"/>
              </a:srgbClr>
            </a:outerShdw>
          </a:effectLst>
        </p:spPr>
      </p:sp>
      <p:pic>
        <p:nvPicPr>
          <p:cNvPr id="3" name="Image 0" descr="orig/16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9146" y="502920"/>
            <a:ext cx="4093403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905695" y="256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6163056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E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Somewhere Between the Episodes</a:t>
            </a:r>
            <a:endParaRPr lang="en-US" sz="1900" dirty="0"/>
          </a:p>
        </p:txBody>
      </p:sp>
    </p:spTree>
  </p:cSld>
  <p:clrMapOvr>
    <a:masterClrMapping/>
  </p:clrMapOvr>
  <p:transition xmlns:p="http://schemas.openxmlformats.org/presentationml/2006/main" spd="slow" advTm="60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23416" y="411480"/>
            <a:ext cx="4344863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8C4"/>
            </a:solidFill>
            <a:prstDash val="solid"/>
          </a:ln>
          <a:effectLst>
            <a:outerShdw sx="100000" sy="100000" kx="0" ky="0" algn="bl" rotWithShape="0" blurRad="139700" dist="50800" dir="5400000">
              <a:srgbClr val="6B5A4A">
                <a:alpha val="28000"/>
              </a:srgbClr>
            </a:outerShdw>
          </a:effectLst>
        </p:spPr>
      </p:sp>
      <p:pic>
        <p:nvPicPr>
          <p:cNvPr id="3" name="Image 0" descr="orig/15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4856" y="502920"/>
            <a:ext cx="4161983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905695" y="256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6163056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E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Haunted Palace — A Review</a:t>
            </a:r>
            <a:endParaRPr lang="en-US" sz="1900" dirty="0"/>
          </a:p>
        </p:txBody>
      </p:sp>
    </p:spTree>
  </p:cSld>
  <p:clrMapOvr>
    <a:masterClrMapping/>
  </p:clrMapOvr>
  <p:transition xmlns:p="http://schemas.openxmlformats.org/presentationml/2006/main" spd="slow" advTm="60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6309" y="411480"/>
            <a:ext cx="4319077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8C4"/>
            </a:solidFill>
            <a:prstDash val="solid"/>
          </a:ln>
          <a:effectLst>
            <a:outerShdw sx="100000" sy="100000" kx="0" ky="0" algn="bl" rotWithShape="0" blurRad="139700" dist="50800" dir="5400000">
              <a:srgbClr val="6B5A4A">
                <a:alpha val="28000"/>
              </a:srgbClr>
            </a:outerShdw>
          </a:effectLst>
        </p:spPr>
      </p:sp>
      <p:pic>
        <p:nvPicPr>
          <p:cNvPr id="3" name="Image 0" descr="orig/09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7749" y="502920"/>
            <a:ext cx="4136197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905695" y="256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6163056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E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Food, Screens &amp; Connection</a:t>
            </a:r>
            <a:endParaRPr lang="en-US" sz="1900" dirty="0"/>
          </a:p>
        </p:txBody>
      </p:sp>
    </p:spTree>
  </p:cSld>
  <p:clrMapOvr>
    <a:masterClrMapping/>
  </p:clrMapOvr>
  <p:transition xmlns:p="http://schemas.openxmlformats.org/presentationml/2006/main" spd="slow" advTm="60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76908" y="411480"/>
            <a:ext cx="4237878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8C4"/>
            </a:solidFill>
            <a:prstDash val="solid"/>
          </a:ln>
          <a:effectLst>
            <a:outerShdw sx="100000" sy="100000" kx="0" ky="0" algn="bl" rotWithShape="0" blurRad="139700" dist="50800" dir="5400000">
              <a:srgbClr val="6B5A4A">
                <a:alpha val="28000"/>
              </a:srgbClr>
            </a:outerShdw>
          </a:effectLst>
        </p:spPr>
      </p:sp>
      <p:pic>
        <p:nvPicPr>
          <p:cNvPr id="3" name="Image 0" descr="orig/1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8348" y="502920"/>
            <a:ext cx="4054998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905695" y="256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6163056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E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Woven Words: Stories That Bind Us Together</a:t>
            </a:r>
            <a:endParaRPr lang="en-US" sz="1900" dirty="0"/>
          </a:p>
        </p:txBody>
      </p:sp>
    </p:spTree>
  </p:cSld>
  <p:clrMapOvr>
    <a:masterClrMapping/>
  </p:clrMapOvr>
  <p:transition xmlns:p="http://schemas.openxmlformats.org/presentationml/2006/main" spd="slow" advTm="60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66210" y="411480"/>
            <a:ext cx="4259275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8C4"/>
            </a:solidFill>
            <a:prstDash val="solid"/>
          </a:ln>
          <a:effectLst>
            <a:outerShdw sx="100000" sy="100000" kx="0" ky="0" algn="bl" rotWithShape="0" blurRad="139700" dist="50800" dir="5400000">
              <a:srgbClr val="6B5A4A">
                <a:alpha val="28000"/>
              </a:srgbClr>
            </a:outerShdw>
          </a:effectLst>
        </p:spPr>
      </p:sp>
      <p:pic>
        <p:nvPicPr>
          <p:cNvPr id="3" name="Image 0" descr="orig/18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7650" y="502920"/>
            <a:ext cx="4076395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905695" y="256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6163056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E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Hallyu and the Northeast</a:t>
            </a:r>
            <a:pPr algn="ctr" indent="0" marL="0">
              <a:lnSpc>
                <a:spcPct val="115000"/>
              </a:lnSpc>
              <a:buNone/>
            </a:pP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7A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한류와 북동인도</a:t>
            </a:r>
            <a:endParaRPr lang="en-US" sz="1900" dirty="0"/>
          </a:p>
        </p:txBody>
      </p:sp>
    </p:spTree>
  </p:cSld>
  <p:clrMapOvr>
    <a:masterClrMapping/>
  </p:clrMapOvr>
  <p:transition xmlns:p="http://schemas.openxmlformats.org/presentationml/2006/main" spd="slow" advTm="60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81298" y="411480"/>
            <a:ext cx="4229100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8C4"/>
            </a:solidFill>
            <a:prstDash val="solid"/>
          </a:ln>
          <a:effectLst>
            <a:outerShdw sx="100000" sy="100000" kx="0" ky="0" algn="bl" rotWithShape="0" blurRad="139700" dist="50800" dir="5400000">
              <a:srgbClr val="6B5A4A">
                <a:alpha val="28000"/>
              </a:srgbClr>
            </a:outerShdw>
          </a:effectLst>
        </p:spPr>
      </p:sp>
      <p:pic>
        <p:nvPicPr>
          <p:cNvPr id="3" name="Image 0" descr="orig/08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2738" y="502920"/>
            <a:ext cx="4046220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905695" y="256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6163056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E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Hallyu and the Northeast — Moving the Centre</a:t>
            </a:r>
            <a:endParaRPr lang="en-US" sz="1900" dirty="0"/>
          </a:p>
        </p:txBody>
      </p:sp>
    </p:spTree>
  </p:cSld>
  <p:clrMapOvr>
    <a:masterClrMapping/>
  </p:clrMapOvr>
  <p:transition xmlns:p="http://schemas.openxmlformats.org/presentationml/2006/main" spd="slow" advTm="60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8504" y="411480"/>
            <a:ext cx="4314688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8C4"/>
            </a:solidFill>
            <a:prstDash val="solid"/>
          </a:ln>
          <a:effectLst>
            <a:outerShdw sx="100000" sy="100000" kx="0" ky="0" algn="bl" rotWithShape="0" blurRad="139700" dist="50800" dir="5400000">
              <a:srgbClr val="6B5A4A">
                <a:alpha val="28000"/>
              </a:srgbClr>
            </a:outerShdw>
          </a:effectLst>
        </p:spPr>
      </p:sp>
      <p:pic>
        <p:nvPicPr>
          <p:cNvPr id="3" name="Image 0" descr="orig/1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9944" y="502920"/>
            <a:ext cx="4131808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905695" y="256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6163056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E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the Centre</a:t>
            </a:r>
            <a:pPr algn="ctr" indent="0" marL="0">
              <a:lnSpc>
                <a:spcPct val="115000"/>
              </a:lnSpc>
              <a:buNone/>
            </a:pP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7A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이어서 · continued</a:t>
            </a:r>
            <a:endParaRPr lang="en-US" sz="1900" dirty="0"/>
          </a:p>
        </p:txBody>
      </p:sp>
    </p:spTree>
  </p:cSld>
  <p:clrMapOvr>
    <a:masterClrMapping/>
  </p:clrMapOvr>
  <p:transition xmlns:p="http://schemas.openxmlformats.org/presentationml/2006/main" spd="slow" advTm="60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99825" y="411480"/>
            <a:ext cx="4392046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8C4"/>
            </a:solidFill>
            <a:prstDash val="solid"/>
          </a:ln>
          <a:effectLst>
            <a:outerShdw sx="100000" sy="100000" kx="0" ky="0" algn="bl" rotWithShape="0" blurRad="139700" dist="50800" dir="5400000">
              <a:srgbClr val="6B5A4A">
                <a:alpha val="28000"/>
              </a:srgbClr>
            </a:outerShdw>
          </a:effectLst>
        </p:spPr>
      </p:sp>
      <p:pic>
        <p:nvPicPr>
          <p:cNvPr id="3" name="Image 0" descr="orig/1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1265" y="502920"/>
            <a:ext cx="4209166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905695" y="256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6163056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E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the Centre</a:t>
            </a:r>
            <a:pPr algn="ctr" indent="0" marL="0">
              <a:lnSpc>
                <a:spcPct val="115000"/>
              </a:lnSpc>
              <a:buNone/>
            </a:pP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7A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이어서 · continued</a:t>
            </a:r>
            <a:endParaRPr lang="en-US" sz="1900" dirty="0"/>
          </a:p>
        </p:txBody>
      </p:sp>
    </p:spTree>
  </p:cSld>
  <p:clrMapOvr>
    <a:masterClrMapping/>
  </p:clrMapOvr>
  <p:transition xmlns:p="http://schemas.openxmlformats.org/presentationml/2006/main" spd="slow" advTm="60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08328" y="411480"/>
            <a:ext cx="4375038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8C4"/>
            </a:solidFill>
            <a:prstDash val="solid"/>
          </a:ln>
          <a:effectLst>
            <a:outerShdw sx="100000" sy="100000" kx="0" ky="0" algn="bl" rotWithShape="0" blurRad="139700" dist="50800" dir="5400000">
              <a:srgbClr val="6B5A4A">
                <a:alpha val="28000"/>
              </a:srgbClr>
            </a:outerShdw>
          </a:effectLst>
        </p:spPr>
      </p:sp>
      <p:pic>
        <p:nvPicPr>
          <p:cNvPr id="3" name="Image 0" descr="orig/1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9768" y="502920"/>
            <a:ext cx="4192158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905695" y="256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6163056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E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Korean Wave in Northeast India</a:t>
            </a:r>
            <a:endParaRPr lang="en-US" sz="1900" dirty="0"/>
          </a:p>
        </p:txBody>
      </p:sp>
    </p:spTree>
  </p:cSld>
  <p:clrMapOvr>
    <a:masterClrMapping/>
  </p:clrMapOvr>
  <p:transition xmlns:p="http://schemas.openxmlformats.org/presentationml/2006/main" spd="slow" advTm="60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95435" y="411480"/>
            <a:ext cx="4400824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8C4"/>
            </a:solidFill>
            <a:prstDash val="solid"/>
          </a:ln>
          <a:effectLst>
            <a:outerShdw sx="100000" sy="100000" kx="0" ky="0" algn="bl" rotWithShape="0" blurRad="139700" dist="50800" dir="5400000">
              <a:srgbClr val="6B5A4A">
                <a:alpha val="28000"/>
              </a:srgbClr>
            </a:outerShdw>
          </a:effectLst>
        </p:spPr>
      </p:sp>
      <p:pic>
        <p:nvPicPr>
          <p:cNvPr id="3" name="Image 0" descr="orig/07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6875" y="502920"/>
            <a:ext cx="4217944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905695" y="256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6163056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E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Dream — A Poem</a:t>
            </a:r>
            <a:endParaRPr lang="en-US" sz="1900" dirty="0"/>
          </a:p>
        </p:txBody>
      </p:sp>
    </p:spTree>
  </p:cSld>
  <p:clrMapOvr>
    <a:masterClrMapping/>
  </p:clrMapOvr>
  <p:transition xmlns:p="http://schemas.openxmlformats.org/presentationml/2006/main" spd="slow" advTm="60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04488" y="411480"/>
            <a:ext cx="4382719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8C4"/>
            </a:solidFill>
            <a:prstDash val="solid"/>
          </a:ln>
          <a:effectLst>
            <a:outerShdw sx="100000" sy="100000" kx="0" ky="0" algn="bl" rotWithShape="0" blurRad="139700" dist="50800" dir="5400000">
              <a:srgbClr val="6B5A4A">
                <a:alpha val="28000"/>
              </a:srgbClr>
            </a:outerShdw>
          </a:effectLst>
        </p:spPr>
      </p:sp>
      <p:pic>
        <p:nvPicPr>
          <p:cNvPr id="3" name="Image 0" descr="orig/1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5928" y="502920"/>
            <a:ext cx="4199839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905695" y="256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6163056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E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Breath of the Forest</a:t>
            </a:r>
            <a:pPr algn="ctr" indent="0" marL="0">
              <a:lnSpc>
                <a:spcPct val="115000"/>
              </a:lnSpc>
              <a:buNone/>
            </a:pP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7A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숲의 흐흡</a:t>
            </a:r>
            <a:endParaRPr lang="en-US" sz="1900" dirty="0"/>
          </a:p>
        </p:txBody>
      </p:sp>
    </p:spTree>
  </p:cSld>
  <p:clrMapOvr>
    <a:masterClrMapping/>
  </p:clrMapOvr>
  <p:transition xmlns:p="http://schemas.openxmlformats.org/presentationml/2006/main" spd="slow" advTm="60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6596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6E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0" y="342900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A7A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  ·  Thank You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Dibrugarh University Korean Club  ·  25 August 2026</a:t>
            </a:r>
            <a:endParaRPr lang="en-US" sz="1400" dirty="0"/>
          </a:p>
        </p:txBody>
      </p:sp>
    </p:spTree>
  </p:cSld>
  <p:clrMapOvr>
    <a:masterClrMapping/>
  </p:clrMapOvr>
  <p:transition xmlns:p="http://schemas.openxmlformats.org/presentationml/2006/main" spd="slow" advTm="6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인연 (Inyeon) — Magazine Launch</dc:title>
  <dc:subject>PptxGenJS Presentation</dc:subject>
  <dc:creator>Dibrugarh University Korean Club</dc:creator>
  <cp:lastModifiedBy>Dibrugarh University Korean Club</cp:lastModifiedBy>
  <cp:revision>1</cp:revision>
  <dcterms:created xsi:type="dcterms:W3CDTF">2026-08-25T06:04:18Z</dcterms:created>
  <dcterms:modified xsi:type="dcterms:W3CDTF">2026-08-25T06:04:18Z</dcterms:modified>
</cp:coreProperties>
</file>