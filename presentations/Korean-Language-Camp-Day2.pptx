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나, 물, 밥 on the board letter by letter. Emphasise: one block = one syllable; verb comes last; endings make sentences polite.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Drill each vowel chorally, row by row. Vowels are written with vertical or horizontal strokes attached to a silent ㅇ when alone (아, 이…).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ㅂ/ㅍ/ㅃ (b/p/pp) with hand in front of mouth to feel the air puff. Batchim = the consonant “sitting under” the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idea: WHICH number word you use depends on WHAT you are counting. Today we learn both sets 1–20 and the tens.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1–10 chorally three times, then build 11–20 together. Note 16 십육 is pronounced simnyuk.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ages: “How old are you?” Answer with native numbers + 살. Point out the shortened forms 한/두/세/네 before counters.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each participant their birth month in Korean. Highlight the two irregular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elements as in Japanese and old Chinese calendars. Quiz quickly: “Fire day?” → 화요일!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drill all 27 — pick 2 per category and act them out. 화이팅 (hwaiting/fighting!) is Korea’s favourite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Drill 5 at a time. 참외 (Korean melon) and 감 (persimmon) are very Korean fruits — fun to introduce!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Kimchi connection: 배추 + 고추 + 마늘 + 파 are all kimchi ingredients.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꽃 (kkot) = flower. 벚꽃 cherry blossoms bloom across Korea every April; parents get 카네이션 on Parents’ Day (8 May).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animal-sound quiz: Korean dogs say 멍멍 (meong-meong), cats say 야옹 (yaong), pigs say 꿀꿀 (kkulkkul)!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 (saek) = color. Game: trainer calls a color, everyone touches something that color within 5 seconds!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밥 also means “a meal” — 밥 먹었어요? (Have you eaten?) is a warm Korean greeting.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pairs: 오늘 뭐 해요? (What are you doing today?) · 화장실이 어디예요? (Where is the bathroom?)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with the student team first at slow speed: 일, 이, CLAP, 사, 오, CLAP, 칠, 팔, CLAP, 십. Then whole class. 짝 (jjak) = the sound of a clap.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questions, assign light practice (count to 10 both ways, greet family in Korean), and preview Day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KOREAN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Korean Words Are Formed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358384" cy="4846320"/>
          </a:xfrm>
          <a:prstGeom prst="roundRect">
            <a:avLst>
              <a:gd name="adj" fmla="val 1698"/>
            </a:avLst>
          </a:prstGeom>
          <a:solidFill>
            <a:srgbClr val="EDF3FB"/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72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 BLOCKS · </a:t>
            </a:r>
            <a:pPr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" y="18470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Hangul letters stack into square blocks — one block = one spoken syllable.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V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6112" y="25603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256032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37360" y="25603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304288" y="256032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688336" y="2505456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88336" y="250545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93008" y="256032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6112" y="35844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V + final C (받침 batchim)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96112" y="385876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858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63040" y="385876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737360" y="385876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3858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304288" y="385876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578608" y="385876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3858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145536" y="3858768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529584" y="3803904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9584" y="380390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334256" y="3858768"/>
            <a:ext cx="1435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 · water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96112" y="48828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V + final C (받침 batchim)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96112" y="515721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5157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463040" y="515721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737360" y="515721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37360" y="5157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2304288" y="515721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578608" y="515721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5157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3145536" y="5157216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529584" y="510235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9584" y="510235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4334256" y="5157216"/>
            <a:ext cx="1435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 · rice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90488" y="1371600"/>
            <a:ext cx="5358384" cy="4846320"/>
          </a:xfrm>
          <a:prstGeom prst="roundRect">
            <a:avLst>
              <a:gd name="adj" fmla="val 1698"/>
            </a:avLst>
          </a:prstGeom>
          <a:solidFill>
            <a:srgbClr val="FBEDEF"/>
          </a:solidFill>
          <a:ln w="9525">
            <a:solidFill>
              <a:srgbClr val="F3D5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15727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ORDER: SUBJECT + OBJECT + VERB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46520" y="1920240"/>
            <a:ext cx="1572768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197510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446520" y="21579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446520" y="254203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jeoneun · I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156448" y="1920240"/>
            <a:ext cx="1572768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56448" y="197510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156448" y="21579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밥을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156448" y="254203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babeul · rice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866376" y="1920240"/>
            <a:ext cx="1572768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CD2E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66376" y="197510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9866376" y="21579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먹어요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9866376" y="254203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meogeoyo · eat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446520" y="2999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“I eat rice.”   </a:t>
            </a:r>
            <a:pPr indent="0" marL="0">
              <a:buNone/>
            </a:pPr>
            <a:r>
              <a:rPr lang="en-US" sz="1100" i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verb ALWAYS comes last!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46520" y="341985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SENTENCE ENDINGS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6446520" y="3694176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46520" y="37490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446520" y="40599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imnida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726680" y="3694176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26680" y="37490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 / 예요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726680" y="40599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ieyo · yeyo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9006840" y="3694176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006840" y="37490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아요 / 어요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9006840" y="40599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 · eoyo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0287000" y="3694176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287000" y="37490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10287000" y="40599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hamnida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446520" y="45720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446520" y="48280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학생입니다</a:t>
            </a:r>
            <a:pPr indent="0" marL="0">
              <a:buNone/>
            </a:pPr>
            <a:r>
              <a:rPr lang="en-US" sz="8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jeoneun haksaeng-imnida</a:t>
            </a:r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 am a student.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446520" y="5230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이것은 책이에요</a:t>
            </a:r>
            <a:pPr indent="0" marL="0">
              <a:buNone/>
            </a:pPr>
            <a:r>
              <a:rPr lang="en-US" sz="8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igeoseun chaek-ieyo</a:t>
            </a:r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This is a book.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446520" y="56327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한국어를 공부해요</a:t>
            </a:r>
            <a:pPr indent="0" marL="0">
              <a:buNone/>
            </a:pPr>
            <a:r>
              <a:rPr lang="en-US" sz="8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jeoneun hangugeo-reul gongbuhaeyo</a:t>
            </a:r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 study Korean.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Fundamentals · Korean Language Learning Camp — Day 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424160" y="649224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HANGUL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Vowels — All 21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모음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VOWELS · </a:t>
            </a:r>
            <a:pPr indent="0" marL="0">
              <a:buNone/>
            </a:pPr>
            <a:r>
              <a:rPr lang="en-US" sz="11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모음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25042" cy="126187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9344"/>
            <a:ext cx="1025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0250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1025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“ah”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38274" y="1554480"/>
            <a:ext cx="1025042" cy="126187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8274" y="1609344"/>
            <a:ext cx="1025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ㅑ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8274" y="2103120"/>
            <a:ext cx="10250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38274" y="2359152"/>
            <a:ext cx="1025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“yah”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836469" y="1554480"/>
            <a:ext cx="1025042" cy="126187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6469" y="1609344"/>
            <a:ext cx="1025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836469" y="2103120"/>
            <a:ext cx="10250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36469" y="2359152"/>
            <a:ext cx="1025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“uh”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934663" y="1554480"/>
            <a:ext cx="1025042" cy="126187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4663" y="1609344"/>
            <a:ext cx="1025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ㅕ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934663" y="2103120"/>
            <a:ext cx="10250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34663" y="2359152"/>
            <a:ext cx="1025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“yuh”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032858" y="1554480"/>
            <a:ext cx="1025042" cy="126187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32858" y="1609344"/>
            <a:ext cx="1025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32858" y="2103120"/>
            <a:ext cx="10250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32858" y="2359152"/>
            <a:ext cx="1025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“oh”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131052" y="1554480"/>
            <a:ext cx="1025042" cy="126187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1052" y="1609344"/>
            <a:ext cx="1025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ㅛ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131052" y="2103120"/>
            <a:ext cx="10250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31052" y="2359152"/>
            <a:ext cx="1025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“yoh”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229246" y="1554480"/>
            <a:ext cx="1025042" cy="126187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9246" y="1609344"/>
            <a:ext cx="1025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29246" y="2103120"/>
            <a:ext cx="10250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29246" y="2359152"/>
            <a:ext cx="1025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“oo”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327441" y="1554480"/>
            <a:ext cx="1025042" cy="126187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7441" y="1609344"/>
            <a:ext cx="1025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ㅠ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327441" y="2103120"/>
            <a:ext cx="10250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327441" y="2359152"/>
            <a:ext cx="1025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“yoo”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425635" y="1554480"/>
            <a:ext cx="1025042" cy="126187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25635" y="1609344"/>
            <a:ext cx="1025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ㅡ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425635" y="2103120"/>
            <a:ext cx="10250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425635" y="2359152"/>
            <a:ext cx="1025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“uh”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0523830" y="1554480"/>
            <a:ext cx="1025042" cy="126187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23830" y="1609344"/>
            <a:ext cx="1025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0523830" y="2103120"/>
            <a:ext cx="10250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523830" y="2359152"/>
            <a:ext cx="1025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“ee”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40080" y="288950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ㅑ ㅕ ㅛ ㅠ are the </a:t>
            </a:r>
            <a:pPr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(y-) vowels</a:t>
            </a:r>
            <a:pPr indent="0" marL="0">
              <a:buNone/>
            </a:pPr>
            <a:r>
              <a:rPr lang="en-US" sz="9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basic sound plus a “y”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0080" y="32186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VOWELS · </a:t>
            </a:r>
            <a:pPr indent="0" marL="0">
              <a:buNone/>
            </a:pPr>
            <a:r>
              <a:rPr lang="en-US" sz="11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모음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" y="3474720"/>
            <a:ext cx="925373" cy="1261872"/>
          </a:xfrm>
          <a:prstGeom prst="roundRect">
            <a:avLst>
              <a:gd name="adj" fmla="val 889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3529584"/>
            <a:ext cx="9253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ㅐ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640080" y="4023360"/>
            <a:ext cx="925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40080" y="4279392"/>
            <a:ext cx="9253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“eh”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638422" y="3474720"/>
            <a:ext cx="925373" cy="1261872"/>
          </a:xfrm>
          <a:prstGeom prst="roundRect">
            <a:avLst>
              <a:gd name="adj" fmla="val 889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38422" y="3529584"/>
            <a:ext cx="9253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ㅒ</a:t>
            </a:r>
            <a:endParaRPr lang="en-US" sz="1900" dirty="0"/>
          </a:p>
        </p:txBody>
      </p:sp>
      <p:sp>
        <p:nvSpPr>
          <p:cNvPr id="54" name="Text 52"/>
          <p:cNvSpPr/>
          <p:nvPr/>
        </p:nvSpPr>
        <p:spPr>
          <a:xfrm>
            <a:off x="1638422" y="4023360"/>
            <a:ext cx="925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638422" y="4279392"/>
            <a:ext cx="9253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“yeh”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636764" y="3474720"/>
            <a:ext cx="925373" cy="1261872"/>
          </a:xfrm>
          <a:prstGeom prst="roundRect">
            <a:avLst>
              <a:gd name="adj" fmla="val 889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36764" y="3529584"/>
            <a:ext cx="9253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ㅔ</a:t>
            </a:r>
            <a:endParaRPr lang="en-US" sz="1900" dirty="0"/>
          </a:p>
        </p:txBody>
      </p:sp>
      <p:sp>
        <p:nvSpPr>
          <p:cNvPr id="58" name="Text 56"/>
          <p:cNvSpPr/>
          <p:nvPr/>
        </p:nvSpPr>
        <p:spPr>
          <a:xfrm>
            <a:off x="2636764" y="4023360"/>
            <a:ext cx="925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2636764" y="4279392"/>
            <a:ext cx="9253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“eh”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635106" y="3474720"/>
            <a:ext cx="925373" cy="1261872"/>
          </a:xfrm>
          <a:prstGeom prst="roundRect">
            <a:avLst>
              <a:gd name="adj" fmla="val 889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35106" y="3529584"/>
            <a:ext cx="9253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ㅖ</a:t>
            </a:r>
            <a:endParaRPr lang="en-US" sz="1900" dirty="0"/>
          </a:p>
        </p:txBody>
      </p:sp>
      <p:sp>
        <p:nvSpPr>
          <p:cNvPr id="62" name="Text 60"/>
          <p:cNvSpPr/>
          <p:nvPr/>
        </p:nvSpPr>
        <p:spPr>
          <a:xfrm>
            <a:off x="3635106" y="4023360"/>
            <a:ext cx="925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3635106" y="4279392"/>
            <a:ext cx="9253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“yeh”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633448" y="3474720"/>
            <a:ext cx="925373" cy="1261872"/>
          </a:xfrm>
          <a:prstGeom prst="roundRect">
            <a:avLst>
              <a:gd name="adj" fmla="val 889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33448" y="3529584"/>
            <a:ext cx="9253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ㅘ</a:t>
            </a:r>
            <a:endParaRPr lang="en-US" sz="1900" dirty="0"/>
          </a:p>
        </p:txBody>
      </p:sp>
      <p:sp>
        <p:nvSpPr>
          <p:cNvPr id="66" name="Text 64"/>
          <p:cNvSpPr/>
          <p:nvPr/>
        </p:nvSpPr>
        <p:spPr>
          <a:xfrm>
            <a:off x="4633448" y="4023360"/>
            <a:ext cx="925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4633448" y="4279392"/>
            <a:ext cx="9253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“wah”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631790" y="3474720"/>
            <a:ext cx="925373" cy="1261872"/>
          </a:xfrm>
          <a:prstGeom prst="roundRect">
            <a:avLst>
              <a:gd name="adj" fmla="val 889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31790" y="3529584"/>
            <a:ext cx="9253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ㅙ</a:t>
            </a:r>
            <a:endParaRPr lang="en-US" sz="1900" dirty="0"/>
          </a:p>
        </p:txBody>
      </p:sp>
      <p:sp>
        <p:nvSpPr>
          <p:cNvPr id="70" name="Text 68"/>
          <p:cNvSpPr/>
          <p:nvPr/>
        </p:nvSpPr>
        <p:spPr>
          <a:xfrm>
            <a:off x="5631790" y="4023360"/>
            <a:ext cx="925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wae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5631790" y="4279392"/>
            <a:ext cx="9253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“weh”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630132" y="3474720"/>
            <a:ext cx="925373" cy="1261872"/>
          </a:xfrm>
          <a:prstGeom prst="roundRect">
            <a:avLst>
              <a:gd name="adj" fmla="val 889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30132" y="3529584"/>
            <a:ext cx="9253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ㅚ</a:t>
            </a:r>
            <a:endParaRPr lang="en-US" sz="1900" dirty="0"/>
          </a:p>
        </p:txBody>
      </p:sp>
      <p:sp>
        <p:nvSpPr>
          <p:cNvPr id="74" name="Text 72"/>
          <p:cNvSpPr/>
          <p:nvPr/>
        </p:nvSpPr>
        <p:spPr>
          <a:xfrm>
            <a:off x="6630132" y="4023360"/>
            <a:ext cx="925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6630132" y="4279392"/>
            <a:ext cx="9253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“weh”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7628473" y="3474720"/>
            <a:ext cx="925373" cy="1261872"/>
          </a:xfrm>
          <a:prstGeom prst="roundRect">
            <a:avLst>
              <a:gd name="adj" fmla="val 889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628473" y="3529584"/>
            <a:ext cx="9253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ㅝ</a:t>
            </a:r>
            <a:endParaRPr lang="en-US" sz="1900" dirty="0"/>
          </a:p>
        </p:txBody>
      </p:sp>
      <p:sp>
        <p:nvSpPr>
          <p:cNvPr id="78" name="Text 76"/>
          <p:cNvSpPr/>
          <p:nvPr/>
        </p:nvSpPr>
        <p:spPr>
          <a:xfrm>
            <a:off x="7628473" y="4023360"/>
            <a:ext cx="925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7628473" y="4279392"/>
            <a:ext cx="9253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“wuh”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8626815" y="3474720"/>
            <a:ext cx="925373" cy="1261872"/>
          </a:xfrm>
          <a:prstGeom prst="roundRect">
            <a:avLst>
              <a:gd name="adj" fmla="val 889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626815" y="3529584"/>
            <a:ext cx="9253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ㅞ</a:t>
            </a:r>
            <a:endParaRPr lang="en-US" sz="1900" dirty="0"/>
          </a:p>
        </p:txBody>
      </p:sp>
      <p:sp>
        <p:nvSpPr>
          <p:cNvPr id="82" name="Text 80"/>
          <p:cNvSpPr/>
          <p:nvPr/>
        </p:nvSpPr>
        <p:spPr>
          <a:xfrm>
            <a:off x="8626815" y="4023360"/>
            <a:ext cx="925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8626815" y="4279392"/>
            <a:ext cx="9253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“weh”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9625157" y="3474720"/>
            <a:ext cx="925373" cy="1261872"/>
          </a:xfrm>
          <a:prstGeom prst="roundRect">
            <a:avLst>
              <a:gd name="adj" fmla="val 889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625157" y="3529584"/>
            <a:ext cx="9253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ㅟ</a:t>
            </a:r>
            <a:endParaRPr lang="en-US" sz="1900" dirty="0"/>
          </a:p>
        </p:txBody>
      </p:sp>
      <p:sp>
        <p:nvSpPr>
          <p:cNvPr id="86" name="Text 84"/>
          <p:cNvSpPr/>
          <p:nvPr/>
        </p:nvSpPr>
        <p:spPr>
          <a:xfrm>
            <a:off x="9625157" y="4023360"/>
            <a:ext cx="925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9625157" y="4279392"/>
            <a:ext cx="9253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“wee”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10623499" y="3474720"/>
            <a:ext cx="925373" cy="1261872"/>
          </a:xfrm>
          <a:prstGeom prst="roundRect">
            <a:avLst>
              <a:gd name="adj" fmla="val 889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623499" y="3529584"/>
            <a:ext cx="9253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ㅢ</a:t>
            </a:r>
            <a:endParaRPr lang="en-US" sz="1900" dirty="0"/>
          </a:p>
        </p:txBody>
      </p:sp>
      <p:sp>
        <p:nvSpPr>
          <p:cNvPr id="90" name="Text 88"/>
          <p:cNvSpPr/>
          <p:nvPr/>
        </p:nvSpPr>
        <p:spPr>
          <a:xfrm>
            <a:off x="10623499" y="4023360"/>
            <a:ext cx="925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10623499" y="4279392"/>
            <a:ext cx="9253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“uey”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40080" y="4956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WORDS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40080" y="521208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EDF3FB"/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49808" y="52852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</a:t>
            </a:r>
            <a:pPr indent="0" marL="0">
              <a:buNone/>
            </a:pPr>
            <a:r>
              <a:rPr lang="en-US" sz="9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749808" y="5596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2478024" y="521208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EDF3FB"/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587752" y="52852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</a:t>
            </a:r>
            <a:pPr indent="0" marL="0">
              <a:buNone/>
            </a:pPr>
            <a:r>
              <a:rPr lang="en-US" sz="9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uyu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2587752" y="5596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4315968" y="521208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EDF3FB"/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425696" y="52852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오이</a:t>
            </a:r>
            <a:pPr indent="0" marL="0">
              <a:buNone/>
            </a:pPr>
            <a:r>
              <a:rPr lang="en-US" sz="9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oi</a:t>
            </a:r>
            <a:endParaRPr lang="en-US" sz="1300" dirty="0"/>
          </a:p>
        </p:txBody>
      </p:sp>
      <p:sp>
        <p:nvSpPr>
          <p:cNvPr id="101" name="Text 99"/>
          <p:cNvSpPr/>
          <p:nvPr/>
        </p:nvSpPr>
        <p:spPr>
          <a:xfrm>
            <a:off x="4425696" y="5596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6153912" y="521208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EDF3FB"/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263640" y="52852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pPr indent="0" marL="0">
              <a:buNone/>
            </a:pPr>
            <a:r>
              <a:rPr lang="en-US" sz="9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ye</a:t>
            </a:r>
            <a:endParaRPr lang="en-US" sz="1300" dirty="0"/>
          </a:p>
        </p:txBody>
      </p:sp>
      <p:sp>
        <p:nvSpPr>
          <p:cNvPr id="104" name="Text 102"/>
          <p:cNvSpPr/>
          <p:nvPr/>
        </p:nvSpPr>
        <p:spPr>
          <a:xfrm>
            <a:off x="6263640" y="5596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7991856" y="521208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EDF3FB"/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101584" y="52852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</a:t>
            </a:r>
            <a:pPr indent="0" marL="0">
              <a:buNone/>
            </a:pPr>
            <a:r>
              <a:rPr lang="en-US" sz="9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uisa</a:t>
            </a:r>
            <a:endParaRPr lang="en-US" sz="1300" dirty="0"/>
          </a:p>
        </p:txBody>
      </p:sp>
      <p:sp>
        <p:nvSpPr>
          <p:cNvPr id="107" name="Text 105"/>
          <p:cNvSpPr/>
          <p:nvPr/>
        </p:nvSpPr>
        <p:spPr>
          <a:xfrm>
            <a:off x="8101584" y="5596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9829800" y="521208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EDF3FB"/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939528" y="52852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왜?</a:t>
            </a:r>
            <a:pPr indent="0" marL="0">
              <a:buNone/>
            </a:pPr>
            <a:r>
              <a:rPr lang="en-US" sz="9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wae</a:t>
            </a:r>
            <a:endParaRPr lang="en-US" sz="1300" dirty="0"/>
          </a:p>
        </p:txBody>
      </p:sp>
      <p:sp>
        <p:nvSpPr>
          <p:cNvPr id="110" name="Text 108"/>
          <p:cNvSpPr/>
          <p:nvPr/>
        </p:nvSpPr>
        <p:spPr>
          <a:xfrm>
            <a:off x="9939528" y="5596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Fundamentals · Korean Language Learning Camp — Day 2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10424160" y="649224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HANGUL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Consonants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자음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CONSONANTS · </a:t>
            </a:r>
            <a:pPr indent="0" marL="0">
              <a:buNone/>
            </a:pPr>
            <a:r>
              <a:rPr lang="en-US" sz="11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자음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72768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/ 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221992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gabang · bag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738274" y="1536192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8274" y="1572768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38274" y="1975104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38274" y="2221992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나무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38274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 · tree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836469" y="1536192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6469" y="1572768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836469" y="1975104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/ 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36469" y="2221992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다리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836469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· bridge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934663" y="1536192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4663" y="1572768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934663" y="1975104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/ 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34663" y="2221992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라면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934663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ramyeon · noodles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032858" y="1536192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32858" y="1572768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032858" y="1975104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32858" y="2221992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32858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 · water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131052" y="1536192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31052" y="1572768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131052" y="1975104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/ 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31052" y="2221992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31052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 · rice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229246" y="1536192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9246" y="1572768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ㅅ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7229246" y="1975104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/ 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29246" y="2221992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29246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saram · person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8327441" y="1536192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7441" y="1572768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8327441" y="1975104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/ 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327441" y="2221992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327441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uyu · milk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9425635" y="1536192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25635" y="1572768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ㅈ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9425635" y="1975104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425635" y="2221992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425635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jip · house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0523830" y="1536192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23830" y="1572768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ㅎ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10523830" y="1975104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0523830" y="2221992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하늘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523830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haneul · sky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40080" y="30358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ASPIRATED — with a puff of air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40080" y="3291840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3328416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ㅊ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640080" y="3730752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40080" y="3977640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40080" y="424281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 · tea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738274" y="3291840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38274" y="3328416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ㅋ</a:t>
            </a:r>
            <a:endParaRPr lang="en-US" sz="1700" dirty="0"/>
          </a:p>
        </p:txBody>
      </p:sp>
      <p:sp>
        <p:nvSpPr>
          <p:cNvPr id="64" name="Text 62"/>
          <p:cNvSpPr/>
          <p:nvPr/>
        </p:nvSpPr>
        <p:spPr>
          <a:xfrm>
            <a:off x="1738274" y="3730752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738274" y="3977640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738274" y="424281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· nose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2836469" y="3291840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6469" y="3328416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ㅌ</a:t>
            </a:r>
            <a:endParaRPr lang="en-US" sz="1700" dirty="0"/>
          </a:p>
        </p:txBody>
      </p:sp>
      <p:sp>
        <p:nvSpPr>
          <p:cNvPr id="69" name="Text 67"/>
          <p:cNvSpPr/>
          <p:nvPr/>
        </p:nvSpPr>
        <p:spPr>
          <a:xfrm>
            <a:off x="2836469" y="3730752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2836469" y="3977640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토끼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2836469" y="424281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tokki · rabbit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3934663" y="3291840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934663" y="3328416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ㅍ</a:t>
            </a:r>
            <a:endParaRPr lang="en-US" sz="1700" dirty="0"/>
          </a:p>
        </p:txBody>
      </p:sp>
      <p:sp>
        <p:nvSpPr>
          <p:cNvPr id="74" name="Text 72"/>
          <p:cNvSpPr/>
          <p:nvPr/>
        </p:nvSpPr>
        <p:spPr>
          <a:xfrm>
            <a:off x="3934663" y="3730752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3934663" y="3977640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포도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3934663" y="424281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podo · grape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532120" y="30358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(TENSE) — strong &amp; tight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5532120" y="3291840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532120" y="3328416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ㄲ</a:t>
            </a:r>
            <a:endParaRPr lang="en-US" sz="1700" dirty="0"/>
          </a:p>
        </p:txBody>
      </p:sp>
      <p:sp>
        <p:nvSpPr>
          <p:cNvPr id="80" name="Text 78"/>
          <p:cNvSpPr/>
          <p:nvPr/>
        </p:nvSpPr>
        <p:spPr>
          <a:xfrm>
            <a:off x="5532120" y="3730752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5532120" y="3977640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꿈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5532120" y="424281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kkum · dream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6630314" y="3291840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630314" y="3328416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ㄸ</a:t>
            </a:r>
            <a:endParaRPr lang="en-US" sz="1700" dirty="0"/>
          </a:p>
        </p:txBody>
      </p:sp>
      <p:sp>
        <p:nvSpPr>
          <p:cNvPr id="85" name="Text 83"/>
          <p:cNvSpPr/>
          <p:nvPr/>
        </p:nvSpPr>
        <p:spPr>
          <a:xfrm>
            <a:off x="6630314" y="3730752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6630314" y="3977640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딸기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6630314" y="424281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ttalgi · strawberry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728509" y="3291840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728509" y="3328416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ㅃ</a:t>
            </a:r>
            <a:endParaRPr lang="en-US" sz="1700" dirty="0"/>
          </a:p>
        </p:txBody>
      </p:sp>
      <p:sp>
        <p:nvSpPr>
          <p:cNvPr id="90" name="Text 88"/>
          <p:cNvSpPr/>
          <p:nvPr/>
        </p:nvSpPr>
        <p:spPr>
          <a:xfrm>
            <a:off x="7728509" y="3730752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7728509" y="3977640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7728509" y="424281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ppang · bread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8826703" y="3291840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826703" y="3328416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ㅆ</a:t>
            </a:r>
            <a:endParaRPr lang="en-US" sz="1700" dirty="0"/>
          </a:p>
        </p:txBody>
      </p:sp>
      <p:sp>
        <p:nvSpPr>
          <p:cNvPr id="95" name="Text 93"/>
          <p:cNvSpPr/>
          <p:nvPr/>
        </p:nvSpPr>
        <p:spPr>
          <a:xfrm>
            <a:off x="8826703" y="3730752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8826703" y="3977640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쌀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8826703" y="424281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ssal · rice grain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9924898" y="3291840"/>
            <a:ext cx="1025042" cy="1353312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924898" y="3328416"/>
            <a:ext cx="1025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ㅉ</a:t>
            </a:r>
            <a:endParaRPr lang="en-US" sz="1700" dirty="0"/>
          </a:p>
        </p:txBody>
      </p:sp>
      <p:sp>
        <p:nvSpPr>
          <p:cNvPr id="100" name="Text 98"/>
          <p:cNvSpPr/>
          <p:nvPr/>
        </p:nvSpPr>
        <p:spPr>
          <a:xfrm>
            <a:off x="9924898" y="3730752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9924898" y="3977640"/>
            <a:ext cx="1025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찌개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9924898" y="424281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jjigae · stew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640080" y="4864608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EDF3FB"/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96112" y="499262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LETTER, DIFFERENT SOUND · </a:t>
            </a:r>
            <a:pPr indent="0" marL="0">
              <a:buNone/>
            </a:pPr>
            <a:r>
              <a:rPr lang="en-US" sz="105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</a:t>
            </a:r>
            <a:pPr indent="0" marL="0">
              <a:buNone/>
            </a:pPr>
            <a:r>
              <a:rPr lang="en-US" sz="10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(batchim = final consonant)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896112" y="5285232"/>
            <a:ext cx="3401568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024128" y="53400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of a word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1024128" y="5550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 — soft, light sound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4507992" y="5285232"/>
            <a:ext cx="3401568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636008" y="53400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of a word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4636008" y="5550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아기</a:t>
            </a:r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agi — becomes voiced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8119872" y="5285232"/>
            <a:ext cx="3401568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247888" y="53400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= BATCHIM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8247888" y="5550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</a:t>
            </a:r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guk — sharp, unreleased stop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896112" y="594360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silent at the start (아 = “a”) but sounds like “ng” at the end (강 gang = river)</a:t>
            </a:r>
            <a:endParaRPr lang="en-US" sz="950" dirty="0"/>
          </a:p>
        </p:txBody>
      </p:sp>
      <p:sp>
        <p:nvSpPr>
          <p:cNvPr id="115" name="Text 113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Fundamentals · Korean Language Learning Camp — Day 2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10424160" y="649224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 Counts Twice — Two Number Systems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358384" cy="4297680"/>
          </a:xfrm>
          <a:prstGeom prst="roundRect">
            <a:avLst>
              <a:gd name="adj" fmla="val 1915"/>
            </a:avLst>
          </a:prstGeom>
          <a:solidFill>
            <a:srgbClr val="EDF3FB"/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72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SINO-KOREAN · </a:t>
            </a:r>
            <a:pPr indent="0" marL="0">
              <a:buNone/>
            </a:pPr>
            <a:r>
              <a:rPr lang="en-US" sz="125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한자어 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1847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from Chinese roots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13969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· 이 · 삼 · 사 · 오…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6334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14400" y="2889504"/>
            <a:ext cx="23408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3081528"/>
            <a:ext cx="420624" cy="420624"/>
          </a:xfrm>
          <a:prstGeom prst="ellipse">
            <a:avLst/>
          </a:prstGeom>
          <a:solidFill>
            <a:srgbClr val="EDF3FB"/>
          </a:solidFill>
          <a:ln/>
        </p:spPr>
      </p:sp>
      <p:pic>
        <p:nvPicPr>
          <p:cNvPr id="12" name="Image 0" descr="C:\Users\User\AppData\Local\Temp\claude\E--Demo-dibrugarh-korean-club-website\3df43a81-816c-4b89-b332-c6ce7429dd2a\scratchpad\assets\FaPhone_0047A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" y="3186684"/>
            <a:ext cx="210312" cy="2103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5448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554480" y="327355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010-1234-5678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01568" y="2889504"/>
            <a:ext cx="23408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11296" y="3081528"/>
            <a:ext cx="420624" cy="420624"/>
          </a:xfrm>
          <a:prstGeom prst="ellipse">
            <a:avLst/>
          </a:prstGeom>
          <a:solidFill>
            <a:srgbClr val="EDF3FB"/>
          </a:solidFill>
          <a:ln/>
        </p:spPr>
      </p:sp>
      <p:pic>
        <p:nvPicPr>
          <p:cNvPr id="17" name="Image 1" descr="C:\Users\User\AppData\Local\Temp\claude\E--Demo-dibrugarh-korean-club-website\3df43a81-816c-4b89-b332-c6ce7429dd2a\scratchpad\assets\FaWonSign_0047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52" y="3186684"/>
            <a:ext cx="210312" cy="2103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041648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041648" y="327355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1,000원 (won)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914400" y="3785616"/>
            <a:ext cx="23408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24128" y="3977640"/>
            <a:ext cx="420624" cy="420624"/>
          </a:xfrm>
          <a:prstGeom prst="ellipse">
            <a:avLst/>
          </a:prstGeom>
          <a:solidFill>
            <a:srgbClr val="EDF3FB"/>
          </a:solidFill>
          <a:ln/>
        </p:spPr>
      </p:sp>
      <p:pic>
        <p:nvPicPr>
          <p:cNvPr id="22" name="Image 2" descr="C:\Users\User\AppData\Local\Temp\claude\E--Demo-dibrugarh-korean-club-website\3df43a81-816c-4b89-b332-c6ce7429dd2a\scratchpad\assets\FaCalendarAlt_0047A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" y="4082796"/>
            <a:ext cx="210312" cy="2103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54480" y="3895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554480" y="416966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5일 (May 5)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3401568" y="3785616"/>
            <a:ext cx="23408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511296" y="3977640"/>
            <a:ext cx="420624" cy="420624"/>
          </a:xfrm>
          <a:prstGeom prst="ellipse">
            <a:avLst/>
          </a:prstGeom>
          <a:solidFill>
            <a:srgbClr val="EDF3FB"/>
          </a:solidFill>
          <a:ln/>
        </p:spPr>
      </p:sp>
      <p:pic>
        <p:nvPicPr>
          <p:cNvPr id="27" name="Image 3" descr="C:\Users\User\AppData\Local\Temp\claude\E--Demo-dibrugarh-korean-club-website\3df43a81-816c-4b89-b332-c6ce7429dd2a\scratchpad\assets\FaClock_0047A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452" y="4082796"/>
            <a:ext cx="210312" cy="2103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041648" y="3895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041648" y="416966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 (bun)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914400" y="4681728"/>
            <a:ext cx="23408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24128" y="4873752"/>
            <a:ext cx="420624" cy="420624"/>
          </a:xfrm>
          <a:prstGeom prst="ellipse">
            <a:avLst/>
          </a:prstGeom>
          <a:solidFill>
            <a:srgbClr val="EDF3FB"/>
          </a:solidFill>
          <a:ln/>
        </p:spPr>
      </p:sp>
      <p:pic>
        <p:nvPicPr>
          <p:cNvPr id="32" name="Image 4" descr="C:\Users\User\AppData\Local\Temp\claude\E--Demo-dibrugarh-korean-club-website\3df43a81-816c-4b89-b332-c6ce7429dd2a\scratchpad\assets\FaBuilding_0047A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" y="4978908"/>
            <a:ext cx="210312" cy="2103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554480" y="4791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1554480" y="506577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3층 (cheung)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3401568" y="4681728"/>
            <a:ext cx="23408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3511296" y="4873752"/>
            <a:ext cx="420624" cy="420624"/>
          </a:xfrm>
          <a:prstGeom prst="ellipse">
            <a:avLst/>
          </a:prstGeom>
          <a:solidFill>
            <a:srgbClr val="EDF3FB"/>
          </a:solidFill>
          <a:ln/>
        </p:spPr>
      </p:sp>
      <p:pic>
        <p:nvPicPr>
          <p:cNvPr id="37" name="Image 5" descr="C:\Users\User\AppData\Local\Temp\claude\E--Demo-dibrugarh-korean-club-website\3df43a81-816c-4b89-b332-c6ce7429dd2a\scratchpad\assets\FaMapMarkerAlt_0047A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6452" y="4978908"/>
            <a:ext cx="210312" cy="21031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041648" y="4791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4041648" y="506577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101동 202호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6190488" y="1371600"/>
            <a:ext cx="5358384" cy="4297680"/>
          </a:xfrm>
          <a:prstGeom prst="roundRect">
            <a:avLst>
              <a:gd name="adj" fmla="val 1915"/>
            </a:avLst>
          </a:prstGeom>
          <a:solidFill>
            <a:srgbClr val="FBEDEF"/>
          </a:solidFill>
          <a:ln w="9525">
            <a:solidFill>
              <a:srgbClr val="F3D5D8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464808" y="1572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KOREAN · </a:t>
            </a:r>
            <a:pPr indent="0" marL="0">
              <a:buNone/>
            </a:pPr>
            <a:r>
              <a:rPr lang="en-US" sz="125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고유어 수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6464808" y="1847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Korea’s very own numbers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6464808" y="213969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· 둘 · 셋 · 넷 · 다섯…</a:t>
            </a:r>
            <a:endParaRPr lang="en-US" sz="1600" dirty="0"/>
          </a:p>
        </p:txBody>
      </p:sp>
      <p:sp>
        <p:nvSpPr>
          <p:cNvPr id="44" name="Text 36"/>
          <p:cNvSpPr/>
          <p:nvPr/>
        </p:nvSpPr>
        <p:spPr>
          <a:xfrm>
            <a:off x="6464808" y="26334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6464808" y="2889504"/>
            <a:ext cx="23408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6574536" y="3081528"/>
            <a:ext cx="420624" cy="420624"/>
          </a:xfrm>
          <a:prstGeom prst="ellipse">
            <a:avLst/>
          </a:prstGeom>
          <a:solidFill>
            <a:srgbClr val="FBEDEF"/>
          </a:solidFill>
          <a:ln/>
        </p:spPr>
      </p:sp>
      <p:pic>
        <p:nvPicPr>
          <p:cNvPr id="47" name="Image 6" descr="C:\Users\User\AppData\Local\Temp\claude\E--Demo-dibrugarh-korean-club-website\3df43a81-816c-4b89-b332-c6ce7429dd2a\scratchpad\assets\FaBirthdayCake_CD2E3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9692" y="3186684"/>
            <a:ext cx="210312" cy="210312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7104888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49" name="Text 40"/>
          <p:cNvSpPr/>
          <p:nvPr/>
        </p:nvSpPr>
        <p:spPr>
          <a:xfrm>
            <a:off x="7104888" y="327355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스무 살 (sal) = 20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8951976" y="2889504"/>
            <a:ext cx="23408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9061704" y="3081528"/>
            <a:ext cx="420624" cy="420624"/>
          </a:xfrm>
          <a:prstGeom prst="ellipse">
            <a:avLst/>
          </a:prstGeom>
          <a:solidFill>
            <a:srgbClr val="FBEDEF"/>
          </a:solidFill>
          <a:ln/>
        </p:spPr>
      </p:sp>
      <p:pic>
        <p:nvPicPr>
          <p:cNvPr id="52" name="Image 7" descr="C:\Users\User\AppData\Local\Temp\claude\E--Demo-dibrugarh-korean-club-website\3df43a81-816c-4b89-b332-c6ce7429dd2a\scratchpad\assets\FaHourglassHalf_CD2E3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6860" y="3186684"/>
            <a:ext cx="210312" cy="210312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9592056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050" dirty="0"/>
          </a:p>
        </p:txBody>
      </p:sp>
      <p:sp>
        <p:nvSpPr>
          <p:cNvPr id="54" name="Text 44"/>
          <p:cNvSpPr/>
          <p:nvPr/>
        </p:nvSpPr>
        <p:spPr>
          <a:xfrm>
            <a:off x="9592056" y="327355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시 (si) = 3 o’clock</a:t>
            </a:r>
            <a:endParaRPr lang="en-US" sz="850" dirty="0"/>
          </a:p>
        </p:txBody>
      </p:sp>
      <p:sp>
        <p:nvSpPr>
          <p:cNvPr id="55" name="Shape 45"/>
          <p:cNvSpPr/>
          <p:nvPr/>
        </p:nvSpPr>
        <p:spPr>
          <a:xfrm>
            <a:off x="6464808" y="3785616"/>
            <a:ext cx="23408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6574536" y="3977640"/>
            <a:ext cx="420624" cy="420624"/>
          </a:xfrm>
          <a:prstGeom prst="ellipse">
            <a:avLst/>
          </a:prstGeom>
          <a:solidFill>
            <a:srgbClr val="FBEDEF"/>
          </a:solidFill>
          <a:ln/>
        </p:spPr>
      </p:sp>
      <p:pic>
        <p:nvPicPr>
          <p:cNvPr id="57" name="Image 8" descr="C:\Users\User\AppData\Local\Temp\claude\E--Demo-dibrugarh-korean-club-website\3df43a81-816c-4b89-b332-c6ce7429dd2a\scratchpad\assets\FaUserFriends_CD2E3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9692" y="4082796"/>
            <a:ext cx="210312" cy="210312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7104888" y="3895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people</a:t>
            </a:r>
            <a:endParaRPr lang="en-US" sz="1050" dirty="0"/>
          </a:p>
        </p:txBody>
      </p:sp>
      <p:sp>
        <p:nvSpPr>
          <p:cNvPr id="59" name="Text 48"/>
          <p:cNvSpPr/>
          <p:nvPr/>
        </p:nvSpPr>
        <p:spPr>
          <a:xfrm>
            <a:off x="7104888" y="416966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명 (myeong)</a:t>
            </a:r>
            <a:endParaRPr lang="en-US" sz="850" dirty="0"/>
          </a:p>
        </p:txBody>
      </p:sp>
      <p:sp>
        <p:nvSpPr>
          <p:cNvPr id="60" name="Shape 49"/>
          <p:cNvSpPr/>
          <p:nvPr/>
        </p:nvSpPr>
        <p:spPr>
          <a:xfrm>
            <a:off x="8951976" y="3785616"/>
            <a:ext cx="23408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1" name="Shape 50"/>
          <p:cNvSpPr/>
          <p:nvPr/>
        </p:nvSpPr>
        <p:spPr>
          <a:xfrm>
            <a:off x="9061704" y="3977640"/>
            <a:ext cx="420624" cy="420624"/>
          </a:xfrm>
          <a:prstGeom prst="ellipse">
            <a:avLst/>
          </a:prstGeom>
          <a:solidFill>
            <a:srgbClr val="FBEDEF"/>
          </a:solidFill>
          <a:ln/>
        </p:spPr>
      </p:sp>
      <p:pic>
        <p:nvPicPr>
          <p:cNvPr id="62" name="Image 9" descr="C:\Users\User\AppData\Local\Temp\claude\E--Demo-dibrugarh-korean-club-website\3df43a81-816c-4b89-b332-c6ce7429dd2a\scratchpad\assets\FaCubes_CD2E3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6860" y="4082796"/>
            <a:ext cx="210312" cy="210312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9592056" y="3895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objects</a:t>
            </a:r>
            <a:endParaRPr lang="en-US" sz="1050" dirty="0"/>
          </a:p>
        </p:txBody>
      </p:sp>
      <p:sp>
        <p:nvSpPr>
          <p:cNvPr id="64" name="Text 52"/>
          <p:cNvSpPr/>
          <p:nvPr/>
        </p:nvSpPr>
        <p:spPr>
          <a:xfrm>
            <a:off x="9592056" y="416966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개 (gae)</a:t>
            </a:r>
            <a:endParaRPr lang="en-US" sz="850" dirty="0"/>
          </a:p>
        </p:txBody>
      </p:sp>
      <p:sp>
        <p:nvSpPr>
          <p:cNvPr id="65" name="Shape 53"/>
          <p:cNvSpPr/>
          <p:nvPr/>
        </p:nvSpPr>
        <p:spPr>
          <a:xfrm>
            <a:off x="640080" y="5806440"/>
            <a:ext cx="10908792" cy="502920"/>
          </a:xfrm>
          <a:prstGeom prst="roundRect">
            <a:avLst>
              <a:gd name="adj" fmla="val 16364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6" name="Text 54"/>
          <p:cNvSpPr/>
          <p:nvPr/>
        </p:nvSpPr>
        <p:spPr>
          <a:xfrm>
            <a:off x="914400" y="58064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time mixes BOTH:  </a:t>
            </a:r>
            <a:pPr indent="0" marL="0">
              <a:buNone/>
            </a:pPr>
            <a:r>
              <a:rPr lang="en-US" sz="105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시 삼십 분</a:t>
            </a:r>
            <a:pPr indent="0" marL="0">
              <a:buNone/>
            </a:pPr>
            <a:r>
              <a:rPr lang="en-US" sz="10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se-si (native hour) samsip-bun (sino minutes) = 3:30</a:t>
            </a:r>
            <a:endParaRPr lang="en-US" sz="1050" dirty="0"/>
          </a:p>
        </p:txBody>
      </p:sp>
      <p:sp>
        <p:nvSpPr>
          <p:cNvPr id="67" name="Text 55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Fundamentals · Korean Language Learning Camp — Day 2</a:t>
            </a:r>
            <a:endParaRPr lang="en-US" sz="900" dirty="0"/>
          </a:p>
        </p:txBody>
      </p:sp>
      <p:sp>
        <p:nvSpPr>
          <p:cNvPr id="68" name="Text 56"/>
          <p:cNvSpPr/>
          <p:nvPr/>
        </p:nvSpPr>
        <p:spPr>
          <a:xfrm>
            <a:off x="10424160" y="649224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Sino-Korean Numbers — 일, 이, 삼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dates, money, phone numbers, minutes, floors &amp; addresses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38274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8274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738274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8274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836469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6469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36469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36469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934663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4663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34663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34663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032858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32858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32858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32858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131052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1052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31052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31052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229246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9246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229246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9246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327441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7441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327441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27441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425635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25635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425635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425635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0523830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23830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0523830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523830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40080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40080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십일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0080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sibil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738274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38274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738274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십이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738274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sibi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836469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36469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2836469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십삼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2836469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sipsam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934663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34663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3934663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십사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3934663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sipsa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032858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32858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5032858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십오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032858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sibo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131052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31052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6131052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십육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131052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simnyuk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229246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29246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7229246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십칠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229246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sipchil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8327441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327441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8327441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십팔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327441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sippal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9425635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425635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9425635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십구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9425635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sipgu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0523830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523830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10523830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이십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0523830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isip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40080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0080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50" dirty="0"/>
          </a:p>
        </p:txBody>
      </p:sp>
      <p:sp>
        <p:nvSpPr>
          <p:cNvPr id="88" name="Text 86"/>
          <p:cNvSpPr/>
          <p:nvPr/>
        </p:nvSpPr>
        <p:spPr>
          <a:xfrm>
            <a:off x="640080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삼십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640080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samsip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1738274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738274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50" dirty="0"/>
          </a:p>
        </p:txBody>
      </p:sp>
      <p:sp>
        <p:nvSpPr>
          <p:cNvPr id="92" name="Text 90"/>
          <p:cNvSpPr/>
          <p:nvPr/>
        </p:nvSpPr>
        <p:spPr>
          <a:xfrm>
            <a:off x="1738274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사십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1738274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sasip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836469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836469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50" dirty="0"/>
          </a:p>
        </p:txBody>
      </p:sp>
      <p:sp>
        <p:nvSpPr>
          <p:cNvPr id="96" name="Text 94"/>
          <p:cNvSpPr/>
          <p:nvPr/>
        </p:nvSpPr>
        <p:spPr>
          <a:xfrm>
            <a:off x="2836469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오십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2836469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osip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3934663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934663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50" dirty="0"/>
          </a:p>
        </p:txBody>
      </p:sp>
      <p:sp>
        <p:nvSpPr>
          <p:cNvPr id="100" name="Text 98"/>
          <p:cNvSpPr/>
          <p:nvPr/>
        </p:nvSpPr>
        <p:spPr>
          <a:xfrm>
            <a:off x="3934663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육십</a:t>
            </a:r>
            <a:endParaRPr lang="en-US" sz="1600" dirty="0"/>
          </a:p>
        </p:txBody>
      </p:sp>
      <p:sp>
        <p:nvSpPr>
          <p:cNvPr id="101" name="Text 99"/>
          <p:cNvSpPr/>
          <p:nvPr/>
        </p:nvSpPr>
        <p:spPr>
          <a:xfrm>
            <a:off x="3934663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yuksip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5032858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032858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5032858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칠십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5032858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chilsip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6131052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131052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6131052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팔십</a:t>
            </a:r>
            <a:endParaRPr lang="en-US" sz="1600" dirty="0"/>
          </a:p>
        </p:txBody>
      </p:sp>
      <p:sp>
        <p:nvSpPr>
          <p:cNvPr id="109" name="Text 107"/>
          <p:cNvSpPr/>
          <p:nvPr/>
        </p:nvSpPr>
        <p:spPr>
          <a:xfrm>
            <a:off x="6131052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palsip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7229246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229246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150" dirty="0"/>
          </a:p>
        </p:txBody>
      </p:sp>
      <p:sp>
        <p:nvSpPr>
          <p:cNvPr id="112" name="Text 110"/>
          <p:cNvSpPr/>
          <p:nvPr/>
        </p:nvSpPr>
        <p:spPr>
          <a:xfrm>
            <a:off x="7229246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구십</a:t>
            </a:r>
            <a:endParaRPr lang="en-US" sz="1600" dirty="0"/>
          </a:p>
        </p:txBody>
      </p:sp>
      <p:sp>
        <p:nvSpPr>
          <p:cNvPr id="113" name="Text 111"/>
          <p:cNvSpPr/>
          <p:nvPr/>
        </p:nvSpPr>
        <p:spPr>
          <a:xfrm>
            <a:off x="7229246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gusip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8327441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327441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50" dirty="0"/>
          </a:p>
        </p:txBody>
      </p:sp>
      <p:sp>
        <p:nvSpPr>
          <p:cNvPr id="116" name="Text 114"/>
          <p:cNvSpPr/>
          <p:nvPr/>
        </p:nvSpPr>
        <p:spPr>
          <a:xfrm>
            <a:off x="8327441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</a:t>
            </a:r>
            <a:endParaRPr lang="en-US" sz="1600" dirty="0"/>
          </a:p>
        </p:txBody>
      </p:sp>
      <p:sp>
        <p:nvSpPr>
          <p:cNvPr id="117" name="Text 115"/>
          <p:cNvSpPr/>
          <p:nvPr/>
        </p:nvSpPr>
        <p:spPr>
          <a:xfrm>
            <a:off x="8327441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baek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9425635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425635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150" dirty="0"/>
          </a:p>
        </p:txBody>
      </p:sp>
      <p:sp>
        <p:nvSpPr>
          <p:cNvPr id="120" name="Text 118"/>
          <p:cNvSpPr/>
          <p:nvPr/>
        </p:nvSpPr>
        <p:spPr>
          <a:xfrm>
            <a:off x="9425635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</a:t>
            </a:r>
            <a:endParaRPr lang="en-US" sz="1600" dirty="0"/>
          </a:p>
        </p:txBody>
      </p:sp>
      <p:sp>
        <p:nvSpPr>
          <p:cNvPr id="121" name="Text 119"/>
          <p:cNvSpPr/>
          <p:nvPr/>
        </p:nvSpPr>
        <p:spPr>
          <a:xfrm>
            <a:off x="9425635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cheon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10523830" y="4370832"/>
            <a:ext cx="1025042" cy="1298448"/>
          </a:xfrm>
          <a:prstGeom prst="roundRect">
            <a:avLst>
              <a:gd name="adj" fmla="val 7136"/>
            </a:avLst>
          </a:prstGeom>
          <a:solidFill>
            <a:srgbClr val="EDF3FB"/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0596982" y="4443984"/>
            <a:ext cx="87873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= 이십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 × 10)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Easy!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640080" y="5870448"/>
            <a:ext cx="10908792" cy="457200"/>
          </a:xfrm>
          <a:prstGeom prst="roundRect">
            <a:avLst>
              <a:gd name="adj" fmla="val 18000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14400" y="58704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snap together like blocks:  </a:t>
            </a:r>
            <a:pPr indent="0" marL="0">
              <a:buNone/>
            </a:pPr>
            <a:r>
              <a:rPr lang="en-US" sz="105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= 이십오</a:t>
            </a:r>
            <a:pPr indent="0" marL="0">
              <a:buNone/>
            </a:pPr>
            <a:r>
              <a:rPr lang="en-US" sz="10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(isibo = 2 × 10 + 5)   ·   </a:t>
            </a:r>
            <a:pPr indent="0" marL="0">
              <a:buNone/>
            </a:pPr>
            <a:r>
              <a:rPr lang="en-US" sz="105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365 = 삼백육십오</a:t>
            </a:r>
            <a:pPr indent="0" marL="0">
              <a:buNone/>
            </a:pPr>
            <a:r>
              <a:rPr lang="en-US" sz="10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sambaek-yuksibo</a:t>
            </a:r>
            <a:endParaRPr lang="en-US" sz="1050" dirty="0"/>
          </a:p>
        </p:txBody>
      </p:sp>
      <p:sp>
        <p:nvSpPr>
          <p:cNvPr id="126" name="Text 124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Fundamentals · Korean Language Learning Camp — Day 2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10424160" y="649224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Korean Numbers — 하나, 둘, 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age, hours, and counting people &amp; things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38274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8274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738274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8274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836469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6469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36469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36469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934663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4663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34663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34663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032858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32858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32858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32858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daseot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131052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1052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31052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31052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yeoseot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229246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9246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229246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9246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ilgop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327441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7441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327441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27441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yeodeol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425635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25635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425635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425635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ahop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0523830" y="1591056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23830" y="1655064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0523830" y="1938528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523830" y="2487168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yeol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40080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40080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열하나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0080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yeol-hana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738274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38274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738274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열둘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738274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yeol-dul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836469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36469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2836469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열셋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2836469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yeol-set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934663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34663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3934663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열넷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3934663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yeol-net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032858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32858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5032858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열다섯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032858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yeol-daseot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131052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31052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6131052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열여섯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131052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yeol-yeoseot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229246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29246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7229246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열일곱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229246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yeol-ilgop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8327441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327441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8327441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열여덟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327441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yeol-yeodeol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9425635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425635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9425635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열아홉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9425635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yeol-ahop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0523830" y="2980944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523830" y="3044952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10523830" y="3328416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스물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0523830" y="3877056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seumul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40080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0080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50" dirty="0"/>
          </a:p>
        </p:txBody>
      </p:sp>
      <p:sp>
        <p:nvSpPr>
          <p:cNvPr id="88" name="Text 86"/>
          <p:cNvSpPr/>
          <p:nvPr/>
        </p:nvSpPr>
        <p:spPr>
          <a:xfrm>
            <a:off x="640080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서른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640080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seoreun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1738274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738274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50" dirty="0"/>
          </a:p>
        </p:txBody>
      </p:sp>
      <p:sp>
        <p:nvSpPr>
          <p:cNvPr id="92" name="Text 90"/>
          <p:cNvSpPr/>
          <p:nvPr/>
        </p:nvSpPr>
        <p:spPr>
          <a:xfrm>
            <a:off x="1738274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마흔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1738274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maheun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836469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836469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50" dirty="0"/>
          </a:p>
        </p:txBody>
      </p:sp>
      <p:sp>
        <p:nvSpPr>
          <p:cNvPr id="96" name="Text 94"/>
          <p:cNvSpPr/>
          <p:nvPr/>
        </p:nvSpPr>
        <p:spPr>
          <a:xfrm>
            <a:off x="2836469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쉰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2836469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3934663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934663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50" dirty="0"/>
          </a:p>
        </p:txBody>
      </p:sp>
      <p:sp>
        <p:nvSpPr>
          <p:cNvPr id="100" name="Text 98"/>
          <p:cNvSpPr/>
          <p:nvPr/>
        </p:nvSpPr>
        <p:spPr>
          <a:xfrm>
            <a:off x="3934663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예순</a:t>
            </a:r>
            <a:endParaRPr lang="en-US" sz="1600" dirty="0"/>
          </a:p>
        </p:txBody>
      </p:sp>
      <p:sp>
        <p:nvSpPr>
          <p:cNvPr id="101" name="Text 99"/>
          <p:cNvSpPr/>
          <p:nvPr/>
        </p:nvSpPr>
        <p:spPr>
          <a:xfrm>
            <a:off x="3934663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yesun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5032858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032858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5032858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일흔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5032858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ilheun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6131052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131052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6131052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여든</a:t>
            </a:r>
            <a:endParaRPr lang="en-US" sz="1600" dirty="0"/>
          </a:p>
        </p:txBody>
      </p:sp>
      <p:sp>
        <p:nvSpPr>
          <p:cNvPr id="109" name="Text 107"/>
          <p:cNvSpPr/>
          <p:nvPr/>
        </p:nvSpPr>
        <p:spPr>
          <a:xfrm>
            <a:off x="6131052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yeodeun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7229246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229246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150" dirty="0"/>
          </a:p>
        </p:txBody>
      </p:sp>
      <p:sp>
        <p:nvSpPr>
          <p:cNvPr id="112" name="Text 110"/>
          <p:cNvSpPr/>
          <p:nvPr/>
        </p:nvSpPr>
        <p:spPr>
          <a:xfrm>
            <a:off x="7229246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아흔</a:t>
            </a:r>
            <a:endParaRPr lang="en-US" sz="1600" dirty="0"/>
          </a:p>
        </p:txBody>
      </p:sp>
      <p:sp>
        <p:nvSpPr>
          <p:cNvPr id="113" name="Text 111"/>
          <p:cNvSpPr/>
          <p:nvPr/>
        </p:nvSpPr>
        <p:spPr>
          <a:xfrm>
            <a:off x="7229246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aheun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8327441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327441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50" dirty="0"/>
          </a:p>
        </p:txBody>
      </p:sp>
      <p:sp>
        <p:nvSpPr>
          <p:cNvPr id="116" name="Text 114"/>
          <p:cNvSpPr/>
          <p:nvPr/>
        </p:nvSpPr>
        <p:spPr>
          <a:xfrm>
            <a:off x="8327441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</a:t>
            </a:r>
            <a:endParaRPr lang="en-US" sz="1600" dirty="0"/>
          </a:p>
        </p:txBody>
      </p:sp>
      <p:sp>
        <p:nvSpPr>
          <p:cNvPr id="117" name="Text 115"/>
          <p:cNvSpPr/>
          <p:nvPr/>
        </p:nvSpPr>
        <p:spPr>
          <a:xfrm>
            <a:off x="8327441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baek (sino)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9425635" y="4370832"/>
            <a:ext cx="1025042" cy="1298448"/>
          </a:xfrm>
          <a:prstGeom prst="roundRect">
            <a:avLst>
              <a:gd name="adj" fmla="val 8029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425635" y="4434840"/>
            <a:ext cx="1025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150" dirty="0"/>
          </a:p>
        </p:txBody>
      </p:sp>
      <p:sp>
        <p:nvSpPr>
          <p:cNvPr id="120" name="Text 118"/>
          <p:cNvSpPr/>
          <p:nvPr/>
        </p:nvSpPr>
        <p:spPr>
          <a:xfrm>
            <a:off x="9425635" y="4718304"/>
            <a:ext cx="1025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</a:t>
            </a:r>
            <a:endParaRPr lang="en-US" sz="1600" dirty="0"/>
          </a:p>
        </p:txBody>
      </p:sp>
      <p:sp>
        <p:nvSpPr>
          <p:cNvPr id="121" name="Text 119"/>
          <p:cNvSpPr/>
          <p:nvPr/>
        </p:nvSpPr>
        <p:spPr>
          <a:xfrm>
            <a:off x="9425635" y="5266944"/>
            <a:ext cx="1025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cheon (sino)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10523830" y="4370832"/>
            <a:ext cx="1025042" cy="1298448"/>
          </a:xfrm>
          <a:prstGeom prst="roundRect">
            <a:avLst>
              <a:gd name="adj" fmla="val 7136"/>
            </a:avLst>
          </a:prstGeom>
          <a:solidFill>
            <a:srgbClr val="FBEDEF"/>
          </a:solidFill>
          <a:ln w="9525">
            <a:solidFill>
              <a:srgbClr val="F3D5D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0596982" y="4443984"/>
            <a:ext cx="87873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사과 두 개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two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apples!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640080" y="5870448"/>
            <a:ext cx="10908792" cy="457200"/>
          </a:xfrm>
          <a:prstGeom prst="roundRect">
            <a:avLst>
              <a:gd name="adj" fmla="val 18000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14400" y="58704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numbers stop at 99 — from 100, Koreans switch to Sino-Korean (</a:t>
            </a:r>
            <a:pPr indent="0" marL="0">
              <a:buNone/>
            </a:pPr>
            <a:r>
              <a:rPr lang="en-US" sz="105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</a:t>
            </a:r>
            <a:pPr indent="0" marL="0">
              <a:buNone/>
            </a:pPr>
            <a:r>
              <a:rPr lang="en-US" sz="10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baek, </a:t>
            </a:r>
            <a:pPr indent="0" marL="0">
              <a:buNone/>
            </a:pPr>
            <a:r>
              <a:rPr lang="en-US" sz="105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</a:t>
            </a:r>
            <a:pPr indent="0" marL="0">
              <a:buNone/>
            </a:pPr>
            <a:r>
              <a:rPr lang="en-US" sz="10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cheon).  Before a counter, 하나→한, 둘→두, 셋→세, 넷→네 (한 개, 두 명!)</a:t>
            </a:r>
            <a:endParaRPr lang="en-US" sz="1050" dirty="0"/>
          </a:p>
        </p:txBody>
      </p:sp>
      <p:sp>
        <p:nvSpPr>
          <p:cNvPr id="126" name="Text 124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Fundamentals · Korean Language Learning Camp — Day 2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10424160" y="649224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 Months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298448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EDF3FB"/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98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= </a:t>
            </a:r>
            <a:pPr indent="0" marL="0">
              <a:buNone/>
            </a:pPr>
            <a:r>
              <a:rPr lang="en-US" sz="12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Sino-Korean number</a:t>
            </a:r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25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</a:t>
            </a:r>
            <a:pPr indent="0" marL="0">
              <a:buNone/>
            </a:pPr>
            <a:r>
              <a:rPr lang="en-US" sz="12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(wol, “moon”)    →    </a:t>
            </a:r>
            <a:pPr indent="0" marL="0">
              <a:buNone/>
            </a:pPr>
            <a:r>
              <a:rPr lang="en-US" sz="125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</a:t>
            </a:r>
            <a:pPr indent="0" marL="0">
              <a:buNone/>
            </a:pPr>
            <a:r>
              <a:rPr lang="en-US" sz="12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+ </a:t>
            </a:r>
            <a:pPr indent="0" marL="0">
              <a:buNone/>
            </a:pPr>
            <a:r>
              <a:rPr lang="en-US" sz="125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</a:t>
            </a:r>
            <a:pPr indent="0" marL="0">
              <a:buNone/>
            </a:pPr>
            <a:r>
              <a:rPr lang="en-US" sz="12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삼월</a:t>
            </a:r>
            <a:pPr indent="0" marL="0">
              <a:buNone/>
            </a:pPr>
            <a:r>
              <a:rPr lang="en-US" sz="12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samwol = March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1755648" cy="1645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26771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 </a:t>
            </a:r>
            <a:pPr indent="0" marL="0">
              <a:buNone/>
            </a:pPr>
            <a:r>
              <a:rPr lang="en-US" sz="1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일월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316382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irwol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2157984"/>
            <a:ext cx="1755648" cy="1645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226771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 </a:t>
            </a:r>
            <a:pPr indent="0" marL="0">
              <a:buNone/>
            </a:pPr>
            <a:r>
              <a:rPr lang="en-US" sz="1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8880" y="2542032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이월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68880" y="316382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2157984"/>
            <a:ext cx="1755648" cy="1645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5696" y="226771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 </a:t>
            </a:r>
            <a:pPr indent="0" marL="0">
              <a:buNone/>
            </a:pPr>
            <a:r>
              <a:rPr lang="en-US" sz="1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0" y="2542032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삼월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297680" y="316382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samwol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157984"/>
            <a:ext cx="1755648" cy="1645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226771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 </a:t>
            </a:r>
            <a:pPr indent="0" marL="0">
              <a:buNone/>
            </a:pPr>
            <a:r>
              <a:rPr lang="en-US" sz="1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26480" y="2542032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사월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26480" y="316382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sawol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55280" y="2157984"/>
            <a:ext cx="1755648" cy="1645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83296" y="226771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 </a:t>
            </a:r>
            <a:pPr indent="0" marL="0">
              <a:buNone/>
            </a:pPr>
            <a:r>
              <a:rPr lang="en-US" sz="1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55280" y="2542032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오월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955280" y="316382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owol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784080" y="2157984"/>
            <a:ext cx="1755648" cy="1645920"/>
          </a:xfrm>
          <a:prstGeom prst="roundRect">
            <a:avLst>
              <a:gd name="adj" fmla="val 5000"/>
            </a:avLst>
          </a:prstGeom>
          <a:solidFill>
            <a:srgbClr val="FBEDEF"/>
          </a:solidFill>
          <a:ln w="9525">
            <a:solidFill>
              <a:srgbClr val="F3D5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12096" y="226771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 </a:t>
            </a:r>
            <a:pPr indent="0" marL="0">
              <a:buNone/>
            </a:pPr>
            <a:r>
              <a:rPr lang="en-US" sz="10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784080" y="2542032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유월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784080" y="316382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yuwol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784080" y="345643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irregular!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" y="3913632"/>
            <a:ext cx="1755648" cy="1645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402336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 </a:t>
            </a:r>
            <a:pPr indent="0" marL="0">
              <a:buNone/>
            </a:pPr>
            <a:r>
              <a:rPr lang="en-US" sz="1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429768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칠월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40080" y="491947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chirwol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68880" y="3913632"/>
            <a:ext cx="1755648" cy="1645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96896" y="402336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 </a:t>
            </a:r>
            <a:pPr indent="0" marL="0">
              <a:buNone/>
            </a:pPr>
            <a:r>
              <a:rPr lang="en-US" sz="1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468880" y="429768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팔월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2468880" y="491947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parwol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97680" y="3913632"/>
            <a:ext cx="1755648" cy="1645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25696" y="402336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 </a:t>
            </a:r>
            <a:pPr indent="0" marL="0">
              <a:buNone/>
            </a:pPr>
            <a:r>
              <a:rPr lang="en-US" sz="1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97680" y="429768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구월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4297680" y="491947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guwol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3913632"/>
            <a:ext cx="1755648" cy="1645920"/>
          </a:xfrm>
          <a:prstGeom prst="roundRect">
            <a:avLst>
              <a:gd name="adj" fmla="val 5000"/>
            </a:avLst>
          </a:prstGeom>
          <a:solidFill>
            <a:srgbClr val="FBEDEF"/>
          </a:solidFill>
          <a:ln w="9525">
            <a:solidFill>
              <a:srgbClr val="F3D5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402336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 </a:t>
            </a:r>
            <a:pPr indent="0" marL="0">
              <a:buNone/>
            </a:pPr>
            <a:r>
              <a:rPr lang="en-US" sz="10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429768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시월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6126480" y="491947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siwol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26480" y="521208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irregular!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955280" y="3913632"/>
            <a:ext cx="1755648" cy="1645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83296" y="402336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 </a:t>
            </a:r>
            <a:pPr indent="0" marL="0">
              <a:buNone/>
            </a:pPr>
            <a:r>
              <a:rPr lang="en-US" sz="1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955280" y="429768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십일월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7955280" y="491947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sibirwol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784080" y="3913632"/>
            <a:ext cx="1755648" cy="1645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912096" y="402336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 </a:t>
            </a:r>
            <a:pPr indent="0" marL="0">
              <a:buNone/>
            </a:pPr>
            <a:r>
              <a:rPr lang="en-US" sz="1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784080" y="429768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십이월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9784080" y="491947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sibiwol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40080" y="5806440"/>
            <a:ext cx="10908792" cy="502920"/>
          </a:xfrm>
          <a:prstGeom prst="roundRect">
            <a:avLst>
              <a:gd name="adj" fmla="val 16364"/>
            </a:avLst>
          </a:prstGeom>
          <a:solidFill>
            <a:srgbClr val="FBEDEF"/>
          </a:solidFill>
          <a:ln w="9525">
            <a:solidFill>
              <a:srgbClr val="F3D5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58064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 </a:t>
            </a:r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→ 유월</a:t>
            </a:r>
            <a:pPr indent="0" marL="0">
              <a:buNone/>
            </a:pPr>
            <a:r>
              <a:rPr lang="en-US" sz="10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 육월)   ·   </a:t>
            </a:r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→ 시월</a:t>
            </a:r>
            <a:pPr indent="0" marL="0">
              <a:buNone/>
            </a:pPr>
            <a:r>
              <a:rPr lang="en-US" sz="10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 십월) — the final consonant drops for smoother sound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Fundamentals · Korean Language Learning Camp — Day 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424160" y="649224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the Week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298448"/>
            <a:ext cx="10908792" cy="603504"/>
          </a:xfrm>
          <a:prstGeom prst="roundRect">
            <a:avLst>
              <a:gd name="adj" fmla="val 13636"/>
            </a:avLst>
          </a:prstGeom>
          <a:solidFill>
            <a:srgbClr val="EDF3FB"/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9844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day = an </a:t>
            </a:r>
            <a:pPr indent="0" marL="0">
              <a:buNone/>
            </a:pPr>
            <a:r>
              <a:rPr lang="en-US" sz="1250" b="1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of nature</a:t>
            </a:r>
            <a:pPr indent="0" marL="0">
              <a:buNone/>
            </a:pPr>
            <a:r>
              <a:rPr lang="en-US" sz="12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25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</a:t>
            </a:r>
            <a:pPr indent="0" marL="0">
              <a:buNone/>
            </a:pPr>
            <a:r>
              <a:rPr lang="en-US" sz="12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(yoil, “day of the week”)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444752" cy="3246120"/>
          </a:xfrm>
          <a:prstGeom prst="roundRect">
            <a:avLst>
              <a:gd name="adj" fmla="val 5696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2331720"/>
            <a:ext cx="566928" cy="566928"/>
          </a:xfrm>
          <a:prstGeom prst="ellipse">
            <a:avLst/>
          </a:prstGeom>
          <a:solidFill>
            <a:srgbClr val="EDF3FB"/>
          </a:solidFill>
          <a:ln/>
        </p:spPr>
      </p:sp>
      <p:pic>
        <p:nvPicPr>
          <p:cNvPr id="9" name="Image 0" descr="C:\Users\User\AppData\Local\Temp\claude\E--Demo-dibrugarh-korean-club-website\3df43a81-816c-4b89-b332-c6ce7429dd2a\scratchpad\assets\FaMoon_0047A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724" y="2473452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03580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· </a:t>
            </a:r>
            <a:pPr algn="ctr" indent="0" marL="0">
              <a:buNone/>
            </a:pPr>
            <a:r>
              <a:rPr lang="en-US" sz="850" b="1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40080" y="32918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0080" y="358444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월요일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405993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woryoil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0080" y="437083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212848" y="2103120"/>
            <a:ext cx="1444752" cy="3246120"/>
          </a:xfrm>
          <a:prstGeom prst="roundRect">
            <a:avLst>
              <a:gd name="adj" fmla="val 5696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51760" y="2331720"/>
            <a:ext cx="566928" cy="566928"/>
          </a:xfrm>
          <a:prstGeom prst="ellipse">
            <a:avLst/>
          </a:prstGeom>
          <a:solidFill>
            <a:srgbClr val="EDF3FB"/>
          </a:solidFill>
          <a:ln/>
        </p:spPr>
      </p:sp>
      <p:pic>
        <p:nvPicPr>
          <p:cNvPr id="17" name="Image 1" descr="C:\Users\User\AppData\Local\Temp\claude\E--Demo-dibrugarh-korean-club-website\3df43a81-816c-4b89-b332-c6ce7429dd2a\scratchpad\assets\FaFire_0047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492" y="2473452"/>
            <a:ext cx="283464" cy="2834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12848" y="303580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· </a:t>
            </a:r>
            <a:pPr algn="ctr" indent="0" marL="0">
              <a:buNone/>
            </a:pPr>
            <a:r>
              <a:rPr lang="en-US" sz="850" b="1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212848" y="32918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2212848" y="358444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화요일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2212848" y="405993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hwayoil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2212848" y="437083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3785616" y="2103120"/>
            <a:ext cx="1444752" cy="3246120"/>
          </a:xfrm>
          <a:prstGeom prst="roundRect">
            <a:avLst>
              <a:gd name="adj" fmla="val 5696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224528" y="2331720"/>
            <a:ext cx="566928" cy="566928"/>
          </a:xfrm>
          <a:prstGeom prst="ellipse">
            <a:avLst/>
          </a:prstGeom>
          <a:solidFill>
            <a:srgbClr val="EDF3FB"/>
          </a:solidFill>
          <a:ln/>
        </p:spPr>
      </p:sp>
      <p:pic>
        <p:nvPicPr>
          <p:cNvPr id="25" name="Image 2" descr="C:\Users\User\AppData\Local\Temp\claude\E--Demo-dibrugarh-korean-club-website\3df43a81-816c-4b89-b332-c6ce7429dd2a\scratchpad\assets\FaTint_0047A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2473452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785616" y="303580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· </a:t>
            </a:r>
            <a:pPr algn="ctr" indent="0" marL="0">
              <a:buNone/>
            </a:pPr>
            <a:r>
              <a:rPr lang="en-US" sz="850" b="1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785616" y="32918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3785616" y="358444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수요일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3785616" y="405993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suyoil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3785616" y="437083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5358384" y="2103120"/>
            <a:ext cx="1444752" cy="3246120"/>
          </a:xfrm>
          <a:prstGeom prst="roundRect">
            <a:avLst>
              <a:gd name="adj" fmla="val 5696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797296" y="2331720"/>
            <a:ext cx="566928" cy="566928"/>
          </a:xfrm>
          <a:prstGeom prst="ellipse">
            <a:avLst/>
          </a:prstGeom>
          <a:solidFill>
            <a:srgbClr val="EDF3FB"/>
          </a:solidFill>
          <a:ln/>
        </p:spPr>
      </p:sp>
      <p:pic>
        <p:nvPicPr>
          <p:cNvPr id="33" name="Image 3" descr="C:\Users\User\AppData\Local\Temp\claude\E--Demo-dibrugarh-korean-club-website\3df43a81-816c-4b89-b332-c6ce7429dd2a\scratchpad\assets\FaTree_0047A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2473452"/>
            <a:ext cx="283464" cy="28346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358384" y="303580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· </a:t>
            </a:r>
            <a:pPr algn="ctr" indent="0" marL="0">
              <a:buNone/>
            </a:pPr>
            <a:r>
              <a:rPr lang="en-US" sz="850" b="1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나무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5358384" y="32918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5358384" y="358444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목요일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5358384" y="405993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mogyoil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5358384" y="437083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6931152" y="2103120"/>
            <a:ext cx="1444752" cy="3246120"/>
          </a:xfrm>
          <a:prstGeom prst="roundRect">
            <a:avLst>
              <a:gd name="adj" fmla="val 5696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370064" y="2331720"/>
            <a:ext cx="566928" cy="566928"/>
          </a:xfrm>
          <a:prstGeom prst="ellipse">
            <a:avLst/>
          </a:prstGeom>
          <a:solidFill>
            <a:srgbClr val="EDF3FB"/>
          </a:solidFill>
          <a:ln/>
        </p:spPr>
      </p:sp>
      <p:pic>
        <p:nvPicPr>
          <p:cNvPr id="41" name="Image 4" descr="C:\Users\User\AppData\Local\Temp\claude\E--Demo-dibrugarh-korean-club-website\3df43a81-816c-4b89-b332-c6ce7429dd2a\scratchpad\assets\FaCoins_0047A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1796" y="2473452"/>
            <a:ext cx="283464" cy="283464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931152" y="303580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/ Gold · </a:t>
            </a:r>
            <a:pPr algn="ctr" indent="0" marL="0">
              <a:buNone/>
            </a:pPr>
            <a:r>
              <a:rPr lang="en-US" sz="850" b="1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6931152" y="32918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6931152" y="358444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금요일</a:t>
            </a:r>
            <a:endParaRPr lang="en-US" sz="1600" dirty="0"/>
          </a:p>
        </p:txBody>
      </p:sp>
      <p:sp>
        <p:nvSpPr>
          <p:cNvPr id="45" name="Text 38"/>
          <p:cNvSpPr/>
          <p:nvPr/>
        </p:nvSpPr>
        <p:spPr>
          <a:xfrm>
            <a:off x="6931152" y="405993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geumyoil</a:t>
            </a:r>
            <a:endParaRPr lang="en-US" sz="950" dirty="0"/>
          </a:p>
        </p:txBody>
      </p:sp>
      <p:sp>
        <p:nvSpPr>
          <p:cNvPr id="46" name="Text 39"/>
          <p:cNvSpPr/>
          <p:nvPr/>
        </p:nvSpPr>
        <p:spPr>
          <a:xfrm>
            <a:off x="6931152" y="437083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47" name="Shape 40"/>
          <p:cNvSpPr/>
          <p:nvPr/>
        </p:nvSpPr>
        <p:spPr>
          <a:xfrm>
            <a:off x="8503920" y="2103120"/>
            <a:ext cx="1444752" cy="3246120"/>
          </a:xfrm>
          <a:prstGeom prst="roundRect">
            <a:avLst>
              <a:gd name="adj" fmla="val 5696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8942832" y="2331720"/>
            <a:ext cx="566928" cy="566928"/>
          </a:xfrm>
          <a:prstGeom prst="ellipse">
            <a:avLst/>
          </a:prstGeom>
          <a:solidFill>
            <a:srgbClr val="FBEDEF"/>
          </a:solidFill>
          <a:ln/>
        </p:spPr>
      </p:sp>
      <p:pic>
        <p:nvPicPr>
          <p:cNvPr id="49" name="Image 5" descr="C:\Users\User\AppData\Local\Temp\claude\E--Demo-dibrugarh-korean-club-website\3df43a81-816c-4b89-b332-c6ce7429dd2a\scratchpad\assets\FaMountain_CD2E3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4564" y="2473452"/>
            <a:ext cx="283464" cy="283464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8503920" y="303580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· </a:t>
            </a:r>
            <a:pPr algn="ctr" indent="0" marL="0">
              <a:buNone/>
            </a:pPr>
            <a:r>
              <a:rPr lang="en-US" sz="850" b="1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흙</a:t>
            </a:r>
            <a:endParaRPr lang="en-US" sz="800" dirty="0"/>
          </a:p>
        </p:txBody>
      </p:sp>
      <p:sp>
        <p:nvSpPr>
          <p:cNvPr id="51" name="Text 43"/>
          <p:cNvSpPr/>
          <p:nvPr/>
        </p:nvSpPr>
        <p:spPr>
          <a:xfrm>
            <a:off x="8503920" y="32918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</a:t>
            </a:r>
            <a:endParaRPr lang="en-US" sz="950" dirty="0"/>
          </a:p>
        </p:txBody>
      </p:sp>
      <p:sp>
        <p:nvSpPr>
          <p:cNvPr id="52" name="Text 44"/>
          <p:cNvSpPr/>
          <p:nvPr/>
        </p:nvSpPr>
        <p:spPr>
          <a:xfrm>
            <a:off x="8503920" y="358444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토요일</a:t>
            </a:r>
            <a:endParaRPr lang="en-US" sz="1600" dirty="0"/>
          </a:p>
        </p:txBody>
      </p:sp>
      <p:sp>
        <p:nvSpPr>
          <p:cNvPr id="53" name="Text 45"/>
          <p:cNvSpPr/>
          <p:nvPr/>
        </p:nvSpPr>
        <p:spPr>
          <a:xfrm>
            <a:off x="8503920" y="405993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toyoil</a:t>
            </a:r>
            <a:endParaRPr lang="en-US" sz="950" dirty="0"/>
          </a:p>
        </p:txBody>
      </p:sp>
      <p:sp>
        <p:nvSpPr>
          <p:cNvPr id="54" name="Text 46"/>
          <p:cNvSpPr/>
          <p:nvPr/>
        </p:nvSpPr>
        <p:spPr>
          <a:xfrm>
            <a:off x="8503920" y="437083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weekend!</a:t>
            </a:r>
            <a:endParaRPr lang="en-US" sz="800" dirty="0"/>
          </a:p>
        </p:txBody>
      </p:sp>
      <p:sp>
        <p:nvSpPr>
          <p:cNvPr id="55" name="Shape 47"/>
          <p:cNvSpPr/>
          <p:nvPr/>
        </p:nvSpPr>
        <p:spPr>
          <a:xfrm>
            <a:off x="10076688" y="2103120"/>
            <a:ext cx="1444752" cy="3246120"/>
          </a:xfrm>
          <a:prstGeom prst="roundRect">
            <a:avLst>
              <a:gd name="adj" fmla="val 5696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10515600" y="2331720"/>
            <a:ext cx="566928" cy="566928"/>
          </a:xfrm>
          <a:prstGeom prst="ellipse">
            <a:avLst/>
          </a:prstGeom>
          <a:solidFill>
            <a:srgbClr val="FBEDEF"/>
          </a:solidFill>
          <a:ln/>
        </p:spPr>
      </p:sp>
      <p:pic>
        <p:nvPicPr>
          <p:cNvPr id="57" name="Image 6" descr="C:\Users\User\AppData\Local\Temp\claude\E--Demo-dibrugarh-korean-club-website\3df43a81-816c-4b89-b332-c6ce7429dd2a\scratchpad\assets\FaSun_CD2E3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7332" y="2473452"/>
            <a:ext cx="283464" cy="283464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10076688" y="303580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· </a:t>
            </a:r>
            <a:pPr algn="ctr" indent="0" marL="0">
              <a:buNone/>
            </a:pPr>
            <a:r>
              <a:rPr lang="en-US" sz="850" b="1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</a:t>
            </a:r>
            <a:endParaRPr lang="en-US" sz="800" dirty="0"/>
          </a:p>
        </p:txBody>
      </p:sp>
      <p:sp>
        <p:nvSpPr>
          <p:cNvPr id="59" name="Text 50"/>
          <p:cNvSpPr/>
          <p:nvPr/>
        </p:nvSpPr>
        <p:spPr>
          <a:xfrm>
            <a:off x="10076688" y="32918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</a:t>
            </a:r>
            <a:endParaRPr lang="en-US" sz="950" dirty="0"/>
          </a:p>
        </p:txBody>
      </p:sp>
      <p:sp>
        <p:nvSpPr>
          <p:cNvPr id="60" name="Text 51"/>
          <p:cNvSpPr/>
          <p:nvPr/>
        </p:nvSpPr>
        <p:spPr>
          <a:xfrm>
            <a:off x="10076688" y="358444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일요일</a:t>
            </a:r>
            <a:endParaRPr lang="en-US" sz="1600" dirty="0"/>
          </a:p>
        </p:txBody>
      </p:sp>
      <p:sp>
        <p:nvSpPr>
          <p:cNvPr id="61" name="Text 52"/>
          <p:cNvSpPr/>
          <p:nvPr/>
        </p:nvSpPr>
        <p:spPr>
          <a:xfrm>
            <a:off x="10076688" y="405993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iryoil</a:t>
            </a:r>
            <a:endParaRPr lang="en-US" sz="950" dirty="0"/>
          </a:p>
        </p:txBody>
      </p:sp>
      <p:sp>
        <p:nvSpPr>
          <p:cNvPr id="62" name="Text 53"/>
          <p:cNvSpPr/>
          <p:nvPr/>
        </p:nvSpPr>
        <p:spPr>
          <a:xfrm>
            <a:off x="10076688" y="437083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weekend!</a:t>
            </a:r>
            <a:endParaRPr lang="en-US" sz="800" dirty="0"/>
          </a:p>
        </p:txBody>
      </p:sp>
      <p:sp>
        <p:nvSpPr>
          <p:cNvPr id="63" name="Shape 54"/>
          <p:cNvSpPr/>
          <p:nvPr/>
        </p:nvSpPr>
        <p:spPr>
          <a:xfrm>
            <a:off x="640080" y="5669280"/>
            <a:ext cx="10908792" cy="594360"/>
          </a:xfrm>
          <a:prstGeom prst="roundRect">
            <a:avLst>
              <a:gd name="adj" fmla="val 13846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4" name="Text 55"/>
          <p:cNvSpPr/>
          <p:nvPr/>
        </p:nvSpPr>
        <p:spPr>
          <a:xfrm>
            <a:off x="914400" y="56692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Useful:  </a:t>
            </a:r>
            <a:pPr indent="0" marL="0">
              <a:buNone/>
            </a:pPr>
            <a:r>
              <a:rPr lang="en-US" sz="10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</a:t>
            </a:r>
            <a:pPr indent="0" marL="0">
              <a:buNone/>
            </a:pPr>
            <a:r>
              <a:rPr lang="en-US" sz="10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jumal = weekend   ·   </a:t>
            </a:r>
            <a:pPr indent="0" marL="0">
              <a:buNone/>
            </a:pPr>
            <a:r>
              <a:rPr lang="en-US" sz="1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pPr indent="0" marL="0">
              <a:buNone/>
            </a:pPr>
            <a:r>
              <a:rPr lang="en-US" sz="10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oneul = today   ·   </a:t>
            </a:r>
            <a:pPr indent="0" marL="0">
              <a:buNone/>
            </a:pPr>
            <a:r>
              <a:rPr lang="en-US" sz="1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</a:t>
            </a:r>
            <a:pPr indent="0" marL="0">
              <a:buNone/>
            </a:pPr>
            <a:r>
              <a:rPr lang="en-US" sz="10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naeil = tomorrow   ·   </a:t>
            </a:r>
            <a:pPr indent="0" marL="0">
              <a:buNone/>
            </a:pPr>
            <a:r>
              <a:rPr lang="en-US" sz="10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day is it?” </a:t>
            </a:r>
            <a:pPr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무슨 요일이에요?</a:t>
            </a:r>
            <a:pPr indent="0" marL="0">
              <a:buNone/>
            </a:pPr>
            <a:r>
              <a:rPr lang="en-US" sz="10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museun yoirieyo?</a:t>
            </a:r>
            <a:endParaRPr lang="en-US" sz="1000" dirty="0"/>
          </a:p>
        </p:txBody>
      </p:sp>
      <p:sp>
        <p:nvSpPr>
          <p:cNvPr id="65" name="Text 56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Fundamentals · Korean Language Learning Camp — Day 2</a:t>
            </a:r>
            <a:endParaRPr lang="en-US" sz="900" dirty="0"/>
          </a:p>
        </p:txBody>
      </p:sp>
      <p:sp>
        <p:nvSpPr>
          <p:cNvPr id="66" name="Text 57"/>
          <p:cNvSpPr/>
          <p:nvPr/>
        </p:nvSpPr>
        <p:spPr>
          <a:xfrm>
            <a:off x="10424160" y="649224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Vocabulary — Your First 27 Words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511296" cy="1554480"/>
          </a:xfrm>
          <a:prstGeom prst="roundRect">
            <a:avLst>
              <a:gd name="adj" fmla="val 5294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63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GREETINGS · </a:t>
            </a:r>
            <a:pPr indent="0" marL="0">
              <a:buNone/>
            </a:pPr>
            <a:r>
              <a:rPr lang="en-US" sz="9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1719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annyeong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hi (casual)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자요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jal jayo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good night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 만나요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tto mannayo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see you again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4256" y="1371600"/>
            <a:ext cx="3511296" cy="1554480"/>
          </a:xfrm>
          <a:prstGeom prst="roundRect">
            <a:avLst>
              <a:gd name="adj" fmla="val 5294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463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· </a:t>
            </a:r>
            <a:pPr indent="0" marL="0">
              <a:buNone/>
            </a:pPr>
            <a:r>
              <a:rPr lang="en-US" sz="9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교실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98848" y="1719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chaek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book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98848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연필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yeonpil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pencil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98848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seonsaengnim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teacher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28432" y="1371600"/>
            <a:ext cx="3511296" cy="1554480"/>
          </a:xfrm>
          <a:prstGeom prst="roundRect">
            <a:avLst>
              <a:gd name="adj" fmla="val 5294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3024" y="1463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· </a:t>
            </a:r>
            <a:pPr indent="0" marL="0">
              <a:buNone/>
            </a:pPr>
            <a:r>
              <a:rPr lang="en-US" sz="9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93024" y="1719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eomma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mom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193024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아빠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appa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dad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93024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gajok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family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035808"/>
            <a:ext cx="3511296" cy="1554480"/>
          </a:xfrm>
          <a:prstGeom prst="roundRect">
            <a:avLst>
              <a:gd name="adj" fmla="val 5294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1272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· </a:t>
            </a:r>
            <a:pPr indent="0" marL="0">
              <a:buNone/>
            </a:pPr>
            <a:r>
              <a:rPr lang="en-US" sz="9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chingu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friend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" y="3767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uri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we / our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4672" y="41513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gachi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together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34256" y="3035808"/>
            <a:ext cx="3511296" cy="1554480"/>
          </a:xfrm>
          <a:prstGeom prst="roundRect">
            <a:avLst>
              <a:gd name="adj" fmla="val 5294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31272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</a:t>
            </a:r>
            <a:pPr indent="0" marL="0">
              <a:buNone/>
            </a:pPr>
            <a:r>
              <a:rPr lang="en-US" sz="9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98848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jip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house / home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98848" y="3767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bang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room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498848" y="41513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mun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door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28432" y="3035808"/>
            <a:ext cx="3511296" cy="1554480"/>
          </a:xfrm>
          <a:prstGeom prst="roundRect">
            <a:avLst>
              <a:gd name="adj" fmla="val 5294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93024" y="31272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OBJECTS · </a:t>
            </a:r>
            <a:pPr indent="0" marL="0">
              <a:buNone/>
            </a:pPr>
            <a:r>
              <a:rPr lang="en-US" sz="9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물건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193024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mul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water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93024" y="3767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jeonhwa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phone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193024" y="41513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gabang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bag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4700016"/>
            <a:ext cx="3511296" cy="1554480"/>
          </a:xfrm>
          <a:prstGeom prst="roundRect">
            <a:avLst>
              <a:gd name="adj" fmla="val 5294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47914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VERBS · </a:t>
            </a:r>
            <a:pPr indent="0" marL="0">
              <a:buNone/>
            </a:pPr>
            <a:r>
              <a:rPr lang="en-US" sz="9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" y="5047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gada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 go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04672" y="54315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먹다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meokda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 eat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4672" y="58155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사랑하다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saranghada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 love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334256" y="4700016"/>
            <a:ext cx="3511296" cy="1554480"/>
          </a:xfrm>
          <a:prstGeom prst="roundRect">
            <a:avLst>
              <a:gd name="adj" fmla="val 5294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98848" y="47914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ADJECTIVES · </a:t>
            </a:r>
            <a:pPr indent="0" marL="0">
              <a:buNone/>
            </a:pPr>
            <a:r>
              <a:rPr lang="en-US" sz="9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형용사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498848" y="5047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좋다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jota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good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498848" y="54315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크다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keuda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big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498848" y="58155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예쁘다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yeppeuda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pretty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28432" y="4700016"/>
            <a:ext cx="3511296" cy="1554480"/>
          </a:xfrm>
          <a:prstGeom prst="roundRect">
            <a:avLst>
              <a:gd name="adj" fmla="val 5294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93024" y="47914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· </a:t>
            </a:r>
            <a:pPr indent="0" marL="0">
              <a:buNone/>
            </a:pPr>
            <a:r>
              <a:rPr lang="en-US" sz="9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193024" y="5047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괜찮아요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gwaenchanayo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it’s okay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193024" y="54315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주세요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juseyo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please give me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193024" y="58155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화이팅!</a:t>
            </a:r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hwaiting!</a:t>
            </a:r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you can do it!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Fundamentals · Korean Language Learning Camp — Day 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424160" y="649224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과일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435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B80"/>
                </a:solidFill>
              </a:rPr>
              <a:t>Point and say: 사과 주세요! (sagwa juseyo — an apple, please!)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사과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sagwa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6384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43784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088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90088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90088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47488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바나나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93792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93792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51192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97496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딸기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97496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ttalgi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97496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strawberry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454896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포도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01200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01200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수박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6384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86384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watermelon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43784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0088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참외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990088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chamoe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990088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melon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47488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93792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복숭아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193792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boksunga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93792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251192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97496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자두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397496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jadu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97496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454896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601200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601200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persimmon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0080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6384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귤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86384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gyul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86384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tangerine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843784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90088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오렌지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2990088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orenji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990088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47488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93792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레몬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193792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93792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251192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97496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키위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7397496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kiwi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97496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kiwi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454896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01200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망고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9601200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manggo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601200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40080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6384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파인애플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786384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painaepeul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86384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pineapple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843784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990088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체리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2990088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cheri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2990088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047488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93792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블루베리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5193792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beulluberi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193792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blueberry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251192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97496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멜론</a:t>
            </a:r>
            <a:endParaRPr lang="en-US" sz="1250" dirty="0"/>
          </a:p>
        </p:txBody>
      </p:sp>
      <p:sp>
        <p:nvSpPr>
          <p:cNvPr id="80" name="Text 78"/>
          <p:cNvSpPr/>
          <p:nvPr/>
        </p:nvSpPr>
        <p:spPr>
          <a:xfrm>
            <a:off x="7397496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mellon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397496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melon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454896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601200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석류</a:t>
            </a:r>
            <a:endParaRPr lang="en-US" sz="1250" dirty="0"/>
          </a:p>
        </p:txBody>
      </p:sp>
      <p:sp>
        <p:nvSpPr>
          <p:cNvPr id="84" name="Text 82"/>
          <p:cNvSpPr/>
          <p:nvPr/>
        </p:nvSpPr>
        <p:spPr>
          <a:xfrm>
            <a:off x="9601200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seongnyu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9601200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pomegranate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Fundamentals · Korean Language Learning Camp — Day 2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0424160" y="649224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채소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435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B80"/>
                </a:solidFill>
              </a:rPr>
              <a:t>Korea’s kitchens run on these — spot the ones inside kimchi!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당근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danggeun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6384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43784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088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90088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gamja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90088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47488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고구마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93792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goguma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93792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potato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51192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97496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양파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97496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yangpa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97496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454896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01200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maneul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01200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garlic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6384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86384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onion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43784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0088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배추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990088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baechu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990088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napa cabbage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47488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93792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양배추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193792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yangbaechu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93792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cabbage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251192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97496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상추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397496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sangchu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97496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454896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시금치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601200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sigeumchi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601200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spinach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0080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6384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오이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86384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86384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843784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90088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호박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2990088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hobak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990088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pumpkin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47488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93792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193792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gaji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93792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eggplant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251192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97496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토마토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7397496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97496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454896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01200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고추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9601200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gochu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601200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chilli pepper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40080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6384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피망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786384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pimang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86384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pepper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843784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990088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버섯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2990088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beoseot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2990088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047488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93792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5193792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193792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251192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97496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옥수수</a:t>
            </a:r>
            <a:endParaRPr lang="en-US" sz="1250" dirty="0"/>
          </a:p>
        </p:txBody>
      </p:sp>
      <p:sp>
        <p:nvSpPr>
          <p:cNvPr id="80" name="Text 78"/>
          <p:cNvSpPr/>
          <p:nvPr/>
        </p:nvSpPr>
        <p:spPr>
          <a:xfrm>
            <a:off x="7397496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oksusu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397496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454896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601200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</a:t>
            </a:r>
            <a:endParaRPr lang="en-US" sz="1250" dirty="0"/>
          </a:p>
        </p:txBody>
      </p:sp>
      <p:sp>
        <p:nvSpPr>
          <p:cNvPr id="84" name="Text 82"/>
          <p:cNvSpPr/>
          <p:nvPr/>
        </p:nvSpPr>
        <p:spPr>
          <a:xfrm>
            <a:off x="9601200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9601200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radish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Fundamentals · Korean Language Learning Camp — Day 2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0424160" y="649224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435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B80"/>
                </a:solidFill>
              </a:rPr>
              <a:t>★ 무궁화 mugunghwa — the rose of Sharon — is the national flower of Korea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장미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jangmi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6384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43784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088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해바라기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90088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haebaragi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90088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sunflower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47488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튤립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93792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tyullip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93792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51192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97496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백합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97496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baekhap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97496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454896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국화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01200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gukhwa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01200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chrysanthemum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무궁화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6384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mugunghwa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86384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of Sharon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43784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0088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벚꽃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990088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beotkkot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990088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 blossom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47488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93792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진달래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193792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jindallae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93792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azalea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251192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97496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개나리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397496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gaenari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97496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forsythia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454896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민들레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601200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mindeulle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601200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dandelion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0080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6384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카네이션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86384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kaneisyeon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86384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843784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90088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라일락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2990088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raillak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990088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lilac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47488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93792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수선화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193792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suseonhwa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93792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daffodil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251192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97496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연꽃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7397496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yeonkkot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97496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lotus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454896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01200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동백꽃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9601200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dongbaek-kkot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601200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camellia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40080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6384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목련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786384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mongnyeon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86384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magnolia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843784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990088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코스모스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2990088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koseumoseu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2990088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047488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93792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난초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5193792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nancho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193792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orchid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251192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97496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제비꽃</a:t>
            </a:r>
            <a:endParaRPr lang="en-US" sz="1250" dirty="0"/>
          </a:p>
        </p:txBody>
      </p:sp>
      <p:sp>
        <p:nvSpPr>
          <p:cNvPr id="80" name="Text 78"/>
          <p:cNvSpPr/>
          <p:nvPr/>
        </p:nvSpPr>
        <p:spPr>
          <a:xfrm>
            <a:off x="7397496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jebi-kkot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397496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454896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601200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안개꽃</a:t>
            </a:r>
            <a:endParaRPr lang="en-US" sz="1250" dirty="0"/>
          </a:p>
        </p:txBody>
      </p:sp>
      <p:sp>
        <p:nvSpPr>
          <p:cNvPr id="84" name="Text 82"/>
          <p:cNvSpPr/>
          <p:nvPr/>
        </p:nvSpPr>
        <p:spPr>
          <a:xfrm>
            <a:off x="9601200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angae-kkot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9601200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baby’s breath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Fundamentals · Korean Language Learning Camp — Day 2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0424160" y="649224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동물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435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B80"/>
                </a:solidFill>
              </a:rPr>
              <a:t>★ 호랑이 horangi — the tiger — is Korea’s national animal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gangaji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6384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/ puppy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43784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088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90088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goyangi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90088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47488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93792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93792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51192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97496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돼지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97496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dwaeji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97496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454896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01200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01200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6384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86384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43784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0088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염소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990088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yeomso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990088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47488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93792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닭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193792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93792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251192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97496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오리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397496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97496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454896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601200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601200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0080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6384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물고기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86384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mulgogi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86384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843784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90088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토끼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2990088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tokki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990088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47488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93792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쥐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193792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jwi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93792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251192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97496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호랑이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7397496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horangi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97496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454896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01200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곰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9601200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601200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40080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6384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사자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786384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saja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86384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lion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843784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990088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코끼리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2990088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kokkiri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2990088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elephant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047488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93792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원숭이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5193792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wonsungi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193792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251192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97496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기린</a:t>
            </a:r>
            <a:endParaRPr lang="en-US" sz="1250" dirty="0"/>
          </a:p>
        </p:txBody>
      </p:sp>
      <p:sp>
        <p:nvSpPr>
          <p:cNvPr id="80" name="Text 78"/>
          <p:cNvSpPr/>
          <p:nvPr/>
        </p:nvSpPr>
        <p:spPr>
          <a:xfrm>
            <a:off x="7397496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girin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397496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454896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601200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뱀</a:t>
            </a:r>
            <a:endParaRPr lang="en-US" sz="1250" dirty="0"/>
          </a:p>
        </p:txBody>
      </p:sp>
      <p:sp>
        <p:nvSpPr>
          <p:cNvPr id="84" name="Text 82"/>
          <p:cNvSpPr/>
          <p:nvPr/>
        </p:nvSpPr>
        <p:spPr>
          <a:xfrm>
            <a:off x="9601200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baem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9601200" y="5760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Fundamentals · Korean Language Learning Camp — Day 2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0424160" y="649224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색깔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435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B80"/>
                </a:solidFill>
              </a:rPr>
              <a:t>The circle shows each color — find something in the room to match!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47088"/>
            <a:ext cx="475488" cy="47548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64592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71600" y="196596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ppalgansaek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43784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80944" y="1847088"/>
            <a:ext cx="475488" cy="475488"/>
          </a:xfrm>
          <a:prstGeom prst="ellipse">
            <a:avLst/>
          </a:prstGeom>
          <a:solidFill>
            <a:srgbClr val="FB8C00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5304" y="164592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주황색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75304" y="196596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juhwangsaek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75304" y="21945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47488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84648" y="1847088"/>
            <a:ext cx="475488" cy="475488"/>
          </a:xfrm>
          <a:prstGeom prst="ellipse">
            <a:avLst/>
          </a:prstGeom>
          <a:solidFill>
            <a:srgbClr val="FDD835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79008" y="164592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노란색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779008" y="196596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noransaek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79008" y="21945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51192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8352" y="1847088"/>
            <a:ext cx="475488" cy="475488"/>
          </a:xfrm>
          <a:prstGeom prst="ellipse">
            <a:avLst/>
          </a:prstGeom>
          <a:solidFill>
            <a:srgbClr val="9CCC65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82712" y="164592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연두색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82712" y="196596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yeondusaek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982712" y="21945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green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454896" y="153619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92056" y="1847088"/>
            <a:ext cx="475488" cy="47548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86416" y="164592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초록색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186416" y="196596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choroksaek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186416" y="21945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" y="3035808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283464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청록색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371600" y="315468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cheongnoksaek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371600" y="338328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43784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80944" y="3035808"/>
            <a:ext cx="475488" cy="47548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75304" y="283464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하늘색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575304" y="315468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haneulsaek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575304" y="338328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blue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47488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84648" y="3035808"/>
            <a:ext cx="475488" cy="47548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79008" y="283464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파란색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779008" y="315468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paransaek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779008" y="338328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251192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88352" y="3035808"/>
            <a:ext cx="475488" cy="47548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82712" y="283464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남색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982712" y="315468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namsaek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982712" y="338328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454896" y="272491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92056" y="3035808"/>
            <a:ext cx="475488" cy="475488"/>
          </a:xfrm>
          <a:prstGeom prst="ellipse">
            <a:avLst/>
          </a:prstGeom>
          <a:solidFill>
            <a:srgbClr val="8E24AA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86416" y="283464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보라색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10186416" y="315468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borasaek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186416" y="338328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40080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7240" y="4224528"/>
            <a:ext cx="475488" cy="475488"/>
          </a:xfrm>
          <a:prstGeom prst="ellipse">
            <a:avLst/>
          </a:prstGeom>
          <a:solidFill>
            <a:srgbClr val="AD1457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71600" y="402336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자주색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1371600" y="434340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jajusaek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371600" y="457200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reddish purple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843784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80944" y="4224528"/>
            <a:ext cx="475488" cy="475488"/>
          </a:xfrm>
          <a:prstGeom prst="ellipse">
            <a:avLst/>
          </a:prstGeom>
          <a:solidFill>
            <a:srgbClr val="F06292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75304" y="402336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분홍색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3575304" y="434340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bunhongsaek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575304" y="457200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047488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184648" y="4224528"/>
            <a:ext cx="475488" cy="475488"/>
          </a:xfrm>
          <a:prstGeom prst="ellipse">
            <a:avLst/>
          </a:prstGeom>
          <a:solidFill>
            <a:srgbClr val="795548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79008" y="402336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갈색</a:t>
            </a:r>
            <a:endParaRPr lang="en-US" sz="1250" dirty="0"/>
          </a:p>
        </p:txBody>
      </p:sp>
      <p:sp>
        <p:nvSpPr>
          <p:cNvPr id="69" name="Text 67"/>
          <p:cNvSpPr/>
          <p:nvPr/>
        </p:nvSpPr>
        <p:spPr>
          <a:xfrm>
            <a:off x="5779008" y="434340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galsaek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779008" y="457200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251192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88352" y="4224528"/>
            <a:ext cx="475488" cy="475488"/>
          </a:xfrm>
          <a:prstGeom prst="ellipse">
            <a:avLst/>
          </a:prstGeom>
          <a:solidFill>
            <a:srgbClr val="D7CCA1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82712" y="402336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베이지색</a:t>
            </a:r>
            <a:endParaRPr lang="en-US" sz="1250" dirty="0"/>
          </a:p>
        </p:txBody>
      </p:sp>
      <p:sp>
        <p:nvSpPr>
          <p:cNvPr id="74" name="Text 72"/>
          <p:cNvSpPr/>
          <p:nvPr/>
        </p:nvSpPr>
        <p:spPr>
          <a:xfrm>
            <a:off x="7982712" y="434340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beijisaek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982712" y="457200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beige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9454896" y="391363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592056" y="4224528"/>
            <a:ext cx="475488" cy="47548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186416" y="402336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금색</a:t>
            </a:r>
            <a:endParaRPr lang="en-US" sz="1250" dirty="0"/>
          </a:p>
        </p:txBody>
      </p:sp>
      <p:sp>
        <p:nvSpPr>
          <p:cNvPr id="79" name="Text 77"/>
          <p:cNvSpPr/>
          <p:nvPr/>
        </p:nvSpPr>
        <p:spPr>
          <a:xfrm>
            <a:off x="10186416" y="434340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geumsaek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10186416" y="457200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40080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77240" y="5413248"/>
            <a:ext cx="475488" cy="475488"/>
          </a:xfrm>
          <a:prstGeom prst="ellipse">
            <a:avLst/>
          </a:prstGeom>
          <a:solidFill>
            <a:srgbClr val="B0BEC5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371600" y="52120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은색</a:t>
            </a:r>
            <a:endParaRPr lang="en-US" sz="1250" dirty="0"/>
          </a:p>
        </p:txBody>
      </p:sp>
      <p:sp>
        <p:nvSpPr>
          <p:cNvPr id="84" name="Text 82"/>
          <p:cNvSpPr/>
          <p:nvPr/>
        </p:nvSpPr>
        <p:spPr>
          <a:xfrm>
            <a:off x="1371600" y="553212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eunsaek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371600" y="57607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2843784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980944" y="5413248"/>
            <a:ext cx="475488" cy="475488"/>
          </a:xfrm>
          <a:prstGeom prst="ellipse">
            <a:avLst/>
          </a:prstGeom>
          <a:solidFill>
            <a:srgbClr val="9E9E9E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575304" y="52120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회색</a:t>
            </a:r>
            <a:endParaRPr lang="en-US" sz="1250" dirty="0"/>
          </a:p>
        </p:txBody>
      </p:sp>
      <p:sp>
        <p:nvSpPr>
          <p:cNvPr id="89" name="Text 87"/>
          <p:cNvSpPr/>
          <p:nvPr/>
        </p:nvSpPr>
        <p:spPr>
          <a:xfrm>
            <a:off x="3575304" y="553212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hoesaek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3575304" y="57607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047488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184648" y="5413248"/>
            <a:ext cx="475488" cy="475488"/>
          </a:xfrm>
          <a:prstGeom prst="ellipse">
            <a:avLst/>
          </a:prstGeom>
          <a:solidFill>
            <a:srgbClr val="212121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779008" y="52120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검은색</a:t>
            </a:r>
            <a:endParaRPr lang="en-US" sz="1250" dirty="0"/>
          </a:p>
        </p:txBody>
      </p:sp>
      <p:sp>
        <p:nvSpPr>
          <p:cNvPr id="94" name="Text 92"/>
          <p:cNvSpPr/>
          <p:nvPr/>
        </p:nvSpPr>
        <p:spPr>
          <a:xfrm>
            <a:off x="5779008" y="553212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geomeunsaek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5779008" y="57607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7251192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88352" y="541324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82712" y="52120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흰색</a:t>
            </a:r>
            <a:endParaRPr lang="en-US" sz="1250" dirty="0"/>
          </a:p>
        </p:txBody>
      </p:sp>
      <p:sp>
        <p:nvSpPr>
          <p:cNvPr id="99" name="Text 97"/>
          <p:cNvSpPr/>
          <p:nvPr/>
        </p:nvSpPr>
        <p:spPr>
          <a:xfrm>
            <a:off x="7982712" y="553212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huinsaek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7982712" y="57607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9454896" y="5102352"/>
            <a:ext cx="2093976" cy="1088136"/>
          </a:xfrm>
          <a:prstGeom prst="roundRect">
            <a:avLst>
              <a:gd name="adj" fmla="val 7563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582912" y="5413248"/>
            <a:ext cx="201168" cy="20116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03" name="Shape 101"/>
          <p:cNvSpPr/>
          <p:nvPr/>
        </p:nvSpPr>
        <p:spPr>
          <a:xfrm>
            <a:off x="9820656" y="5413248"/>
            <a:ext cx="201168" cy="201168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582912" y="5650992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05" name="Shape 103"/>
          <p:cNvSpPr/>
          <p:nvPr/>
        </p:nvSpPr>
        <p:spPr>
          <a:xfrm>
            <a:off x="9820656" y="5650992"/>
            <a:ext cx="201168" cy="20116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06" name="Text 104"/>
          <p:cNvSpPr/>
          <p:nvPr/>
        </p:nvSpPr>
        <p:spPr>
          <a:xfrm>
            <a:off x="10186416" y="52120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무지개</a:t>
            </a:r>
            <a:endParaRPr lang="en-US" sz="1250" dirty="0"/>
          </a:p>
        </p:txBody>
      </p:sp>
      <p:sp>
        <p:nvSpPr>
          <p:cNvPr id="107" name="Text 105"/>
          <p:cNvSpPr/>
          <p:nvPr/>
        </p:nvSpPr>
        <p:spPr>
          <a:xfrm>
            <a:off x="10186416" y="553212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mujigae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10186416" y="57607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rainbow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Fundamentals · Korean Language Learning Camp — Day 2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10424160" y="649224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Places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358384" cy="4846320"/>
          </a:xfrm>
          <a:prstGeom prst="roundRect">
            <a:avLst>
              <a:gd name="adj" fmla="val 1698"/>
            </a:avLst>
          </a:prstGeom>
          <a:solidFill>
            <a:srgbClr val="EDF3FB"/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54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· </a:t>
            </a:r>
            <a:pPr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96112" y="1901952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993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2304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/ a meal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64992" y="1901952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993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ppang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93008" y="2304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96112" y="2743200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2834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31455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64992" y="2743200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2834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계란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gyeran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93008" y="31455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96112" y="3584448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3675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고기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gogi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39867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64992" y="3584448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3675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생선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saengseon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93008" y="39867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(food)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6112" y="4425696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5171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과자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gwaja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 / cookies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64992" y="4425696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45171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uyu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93008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96112" y="5266944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5358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" y="5669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64992" y="5266944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93008" y="5358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keopi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93008" y="5669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90488" y="1371600"/>
            <a:ext cx="5358384" cy="4846320"/>
          </a:xfrm>
          <a:prstGeom prst="roundRect">
            <a:avLst>
              <a:gd name="adj" fmla="val 1698"/>
            </a:avLst>
          </a:prstGeom>
          <a:solidFill>
            <a:srgbClr val="FBEDEF"/>
          </a:solidFill>
          <a:ln w="9525">
            <a:solidFill>
              <a:srgbClr val="F3D5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1554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· </a:t>
            </a:r>
            <a:pPr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46520" y="1901952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74536" y="1993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hakgyo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74536" y="2304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915400" y="1901952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43416" y="1993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byeongwon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043416" y="2304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46520" y="2743200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74536" y="2834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sijang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74536" y="31455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915400" y="2743200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43416" y="2834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식당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sikdang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043416" y="31455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46520" y="3584448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74536" y="3675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eunhaeng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74536" y="39867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915400" y="3584448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43416" y="3675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공원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gongwon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043416" y="39867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446520" y="4425696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74536" y="45171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도서관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doseogwan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574536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915400" y="4425696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043416" y="45171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화장실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hwajangsil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043416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46520" y="5266944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74536" y="5358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yeok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574536" y="5669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915400" y="5266944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043416" y="5358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공항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gonghang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043416" y="5669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Fundamentals · Korean Language Learning Camp — Day 2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424160" y="649224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Words — Ask &amp; Tell Time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358384" cy="4846320"/>
          </a:xfrm>
          <a:prstGeom prst="roundRect">
            <a:avLst>
              <a:gd name="adj" fmla="val 1698"/>
            </a:avLst>
          </a:prstGeom>
          <a:solidFill>
            <a:srgbClr val="EDF3FB"/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54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WORDS · </a:t>
            </a:r>
            <a:pPr indent="0" marL="0">
              <a:buNone/>
            </a:pPr>
            <a:r>
              <a:rPr lang="en-US" sz="115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의문사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96112" y="1901952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993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 / 무엇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mwo / mueot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2304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64992" y="1901952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993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nuga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93008" y="2304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(subject)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96112" y="2743200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2834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nugu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31455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/ whom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64992" y="2743200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2834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eodi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93008" y="31455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96112" y="3584448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3675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eonje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39867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64992" y="3584448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3675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93008" y="39867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6112" y="4425696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5171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eotteoke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64992" y="4425696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45171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eolma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93008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96112" y="5266944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5358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myeot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" y="5669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64992" y="5266944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93008" y="5358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eoneu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93008" y="5669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90488" y="1371600"/>
            <a:ext cx="5358384" cy="4846320"/>
          </a:xfrm>
          <a:prstGeom prst="roundRect">
            <a:avLst>
              <a:gd name="adj" fmla="val 1698"/>
            </a:avLst>
          </a:prstGeom>
          <a:solidFill>
            <a:srgbClr val="FBEDEF"/>
          </a:solidFill>
          <a:ln w="9525">
            <a:solidFill>
              <a:srgbClr val="F3D5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1554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WORDS · </a:t>
            </a:r>
            <a:pPr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46520" y="1901952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74536" y="1993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oneul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74536" y="2304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915400" y="1901952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43416" y="1993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naeil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043416" y="2304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46520" y="2743200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74536" y="2834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모레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74536" y="31455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after tomorrow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915400" y="2743200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43416" y="2834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eoje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043416" y="31455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46520" y="3584448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74536" y="3675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그저께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geujeokke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74536" y="39867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before yesterday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915400" y="3584448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43416" y="3675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jigeum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043416" y="39867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446520" y="4425696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74536" y="45171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achim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574536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915400" y="4425696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043416" y="45171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jeomsim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043416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noon / lunch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46520" y="5266944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74536" y="5358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jeonyeok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574536" y="5669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915400" y="5266944"/>
            <a:ext cx="23774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043416" y="5358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</a:t>
            </a:r>
            <a:pPr indent="0" marL="0">
              <a:buNone/>
            </a:pPr>
            <a:r>
              <a:rPr lang="en-US" sz="75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bam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043416" y="5669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Fundamentals · Korean Language Learning Camp — Day 2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424160" y="649224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3·6·9 Game — 삼육구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212080" cy="4846320"/>
          </a:xfrm>
          <a:prstGeom prst="roundRect">
            <a:avLst>
              <a:gd name="adj" fmla="val 1698"/>
            </a:avLst>
          </a:prstGeom>
          <a:solidFill>
            <a:srgbClr val="EDF3FB"/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5910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C:\Users\User\AppData\Local\Temp\claude\E--Demo-dibrugarh-korean-club-website\3df43a81-816c-4b89-b332-c6ce7429dd2a\scratchpad\assets\FaListOl_0047A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1705356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910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4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PLAY · </a:t>
            </a:r>
            <a:pPr indent="0" marL="0">
              <a:buNone/>
            </a:pPr>
            <a:r>
              <a:rPr lang="en-US" sz="12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" y="213969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Korea’s classic party game — you’ll see it in every K-drama &amp; variety show!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96112" y="2578608"/>
            <a:ext cx="47091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752344"/>
            <a:ext cx="475488" cy="475488"/>
          </a:xfrm>
          <a:prstGeom prst="ellipse">
            <a:avLst/>
          </a:prstGeom>
          <a:solidFill>
            <a:srgbClr val="0047A0"/>
          </a:solidFill>
          <a:ln/>
        </p:spPr>
      </p:sp>
      <p:sp>
        <p:nvSpPr>
          <p:cNvPr id="12" name="Text 9"/>
          <p:cNvSpPr/>
          <p:nvPr/>
        </p:nvSpPr>
        <p:spPr>
          <a:xfrm>
            <a:off x="1060704" y="2752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82496" y="2651760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in a circle and count upward in turn: 일, 이, 삼… (1, 2, 3…)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96112" y="3511296"/>
            <a:ext cx="47091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60704" y="3685032"/>
            <a:ext cx="475488" cy="475488"/>
          </a:xfrm>
          <a:prstGeom prst="ellipse">
            <a:avLst/>
          </a:prstGeom>
          <a:solidFill>
            <a:srgbClr val="004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060704" y="3685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682496" y="3584448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number contains a 3, 6 or 9 — don’t say it. CLAP instead!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96112" y="4443984"/>
            <a:ext cx="47091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60704" y="4617720"/>
            <a:ext cx="475488" cy="475488"/>
          </a:xfrm>
          <a:prstGeom prst="ellipse">
            <a:avLst/>
          </a:prstGeom>
          <a:solidFill>
            <a:srgbClr val="0047A0"/>
          </a:solidFill>
          <a:ln/>
        </p:spPr>
      </p:sp>
      <p:sp>
        <p:nvSpPr>
          <p:cNvPr id="20" name="Text 17"/>
          <p:cNvSpPr/>
          <p:nvPr/>
        </p:nvSpPr>
        <p:spPr>
          <a:xfrm>
            <a:off x="1060704" y="4617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682496" y="4517136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them in one number (33, 36, 39…)? Clap TWICE!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96112" y="5376672"/>
            <a:ext cx="47091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60704" y="5550408"/>
            <a:ext cx="475488" cy="475488"/>
          </a:xfrm>
          <a:prstGeom prst="ellipse">
            <a:avLst/>
          </a:prstGeom>
          <a:solidFill>
            <a:srgbClr val="0047A0"/>
          </a:solidFill>
          <a:ln/>
        </p:spPr>
      </p:sp>
      <p:sp>
        <p:nvSpPr>
          <p:cNvPr id="24" name="Text 21"/>
          <p:cNvSpPr/>
          <p:nvPr/>
        </p:nvSpPr>
        <p:spPr>
          <a:xfrm>
            <a:off x="1060704" y="5550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682496" y="5449824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Hesitate, say a clap-number, or clap wrong — you’re out. Last player wins!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35040" y="1371600"/>
            <a:ext cx="5513832" cy="2651760"/>
          </a:xfrm>
          <a:prstGeom prst="roundRect">
            <a:avLst>
              <a:gd name="adj" fmla="val 3103"/>
            </a:avLst>
          </a:prstGeom>
          <a:solidFill>
            <a:srgbClr val="FBEDEF"/>
          </a:solidFill>
          <a:ln w="9525">
            <a:solidFill>
              <a:srgbClr val="F3D5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91072" y="1554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— COUNT TO TEN · </a:t>
            </a:r>
            <a:pPr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일, 이… 짝!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291072" y="1920240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91072" y="19933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291072" y="2377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il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296912" y="1920240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96912" y="19933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296912" y="2377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i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302752" y="1920240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CD2E3A"/>
            </a:solidFill>
            <a:prstDash val="solid"/>
          </a:ln>
        </p:spPr>
      </p:sp>
      <p:pic>
        <p:nvPicPr>
          <p:cNvPr id="35" name="Image 1" descr="C:\Users\User\AppData\Local\Temp\claude\E--Demo-dibrugarh-korean-club-website\3df43a81-816c-4b89-b332-c6ce7429dd2a\scratchpad\assets\FaHandPaper_CD2E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072" y="2029968"/>
            <a:ext cx="365760" cy="36576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302752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CLAP! 짝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9308592" y="1920240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308592" y="19933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9" name="Text 35"/>
          <p:cNvSpPr/>
          <p:nvPr/>
        </p:nvSpPr>
        <p:spPr>
          <a:xfrm>
            <a:off x="9308592" y="2377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 sa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10314432" y="1920240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0314432" y="19933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2" name="Text 38"/>
          <p:cNvSpPr/>
          <p:nvPr/>
        </p:nvSpPr>
        <p:spPr>
          <a:xfrm>
            <a:off x="10314432" y="2377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 o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6291072" y="2852928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CD2E3A"/>
            </a:solidFill>
            <a:prstDash val="solid"/>
          </a:ln>
        </p:spPr>
      </p:sp>
      <p:pic>
        <p:nvPicPr>
          <p:cNvPr id="44" name="Image 2" descr="C:\Users\User\AppData\Local\Temp\claude\E--Demo-dibrugarh-korean-club-website\3df43a81-816c-4b89-b332-c6ce7429dd2a\scratchpad\assets\FaHandPaper_CD2E3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962656"/>
            <a:ext cx="365760" cy="36576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291072" y="3364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CLAP! 짝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7296912" y="2852928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7296912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8" name="Text 43"/>
          <p:cNvSpPr/>
          <p:nvPr/>
        </p:nvSpPr>
        <p:spPr>
          <a:xfrm>
            <a:off x="7296912" y="3310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 chil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8302752" y="2852928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8302752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51" name="Text 46"/>
          <p:cNvSpPr/>
          <p:nvPr/>
        </p:nvSpPr>
        <p:spPr>
          <a:xfrm>
            <a:off x="8302752" y="3310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 pal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9308592" y="2852928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CD2E3A"/>
            </a:solidFill>
            <a:prstDash val="solid"/>
          </a:ln>
        </p:spPr>
      </p:sp>
      <p:pic>
        <p:nvPicPr>
          <p:cNvPr id="53" name="Image 3" descr="C:\Users\User\AppData\Local\Temp\claude\E--Demo-dibrugarh-korean-club-website\3df43a81-816c-4b89-b332-c6ce7429dd2a\scratchpad\assets\FaHandPaper_CD2E3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2" y="2962656"/>
            <a:ext cx="365760" cy="365760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9308592" y="3364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CLAP! 짝</a:t>
            </a:r>
            <a:endParaRPr lang="en-US" sz="800" dirty="0"/>
          </a:p>
        </p:txBody>
      </p:sp>
      <p:sp>
        <p:nvSpPr>
          <p:cNvPr id="55" name="Shape 49"/>
          <p:cNvSpPr/>
          <p:nvPr/>
        </p:nvSpPr>
        <p:spPr>
          <a:xfrm>
            <a:off x="10314432" y="2852928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10314432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57" name="Text 51"/>
          <p:cNvSpPr/>
          <p:nvPr/>
        </p:nvSpPr>
        <p:spPr>
          <a:xfrm>
            <a:off x="10314432" y="3310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 sip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6035040" y="4206240"/>
            <a:ext cx="5513832" cy="2011680"/>
          </a:xfrm>
          <a:prstGeom prst="roundRect">
            <a:avLst>
              <a:gd name="adj" fmla="val 4091"/>
            </a:avLst>
          </a:prstGeom>
          <a:solidFill>
            <a:srgbClr val="F7F9FC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6291072" y="4407408"/>
            <a:ext cx="457200" cy="457200"/>
          </a:xfrm>
          <a:prstGeom prst="ellipse">
            <a:avLst/>
          </a:prstGeom>
          <a:solidFill>
            <a:srgbClr val="FBEDEF"/>
          </a:solidFill>
          <a:ln/>
        </p:spPr>
      </p:sp>
      <p:pic>
        <p:nvPicPr>
          <p:cNvPr id="60" name="Image 4" descr="C:\Users\User\AppData\Local\Temp\claude\E--Demo-dibrugarh-korean-club-website\3df43a81-816c-4b89-b332-c6ce7429dd2a\scratchpad\assets\FaUsers_CD2E3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372" y="4521708"/>
            <a:ext cx="228600" cy="228600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6858000" y="44074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D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 · </a:t>
            </a:r>
            <a:pPr indent="0" marL="0">
              <a:buNone/>
            </a:pPr>
            <a:r>
              <a:rPr lang="en-US" sz="115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</a:t>
            </a:r>
            <a:endParaRPr lang="en-US" sz="1150" dirty="0"/>
          </a:p>
        </p:txBody>
      </p:sp>
      <p:sp>
        <p:nvSpPr>
          <p:cNvPr id="62" name="Text 55"/>
          <p:cNvSpPr/>
          <p:nvPr/>
        </p:nvSpPr>
        <p:spPr>
          <a:xfrm>
            <a:off x="6291072" y="495604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 in a circle — count with the Sino-Korean numbers you just learned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Round 1 slow, then faster every round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Made a mistake? Sing one line of a K-pop song and rejoin the next round!</a:t>
            </a:r>
            <a:endParaRPr lang="en-US" sz="1050" dirty="0"/>
          </a:p>
        </p:txBody>
      </p:sp>
      <p:sp>
        <p:nvSpPr>
          <p:cNvPr id="63" name="Text 56"/>
          <p:cNvSpPr/>
          <p:nvPr/>
        </p:nvSpPr>
        <p:spPr>
          <a:xfrm>
            <a:off x="6400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Fundamentals · Korean Language Learning Camp — Day 2</a:t>
            </a:r>
            <a:endParaRPr lang="en-US" sz="900" dirty="0"/>
          </a:p>
        </p:txBody>
      </p:sp>
      <p:sp>
        <p:nvSpPr>
          <p:cNvPr id="64" name="Text 57"/>
          <p:cNvSpPr/>
          <p:nvPr/>
        </p:nvSpPr>
        <p:spPr>
          <a:xfrm>
            <a:off x="10424160" y="649224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3840480" cy="3840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754880"/>
            <a:ext cx="3840480" cy="3840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C:\Users\User\AppData\Local\Temp\claude\E--Demo-dibrugarh-korean-club-website\3df43a81-816c-4b89-b332-c6ce7429dd2a\scratchpad\assets\taegeu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264" y="6858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965960"/>
            <a:ext cx="12188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감사합니다!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0" y="3291840"/>
            <a:ext cx="1218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gamsahamnida — Thank you!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</a:t>
            </a:r>
            <a:pPr algn="ctr" indent="0" marL="0">
              <a:buNone/>
            </a:pPr>
            <a:r>
              <a:rPr lang="en-US" sz="1800" b="1" dirty="0">
                <a:solidFill>
                  <a:srgbClr val="CD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있어요?</a:t>
            </a:r>
            <a:pPr algn="ctr" indent="0" marL="0">
              <a:buNone/>
            </a:pPr>
            <a:r>
              <a:rPr lang="en-US" sz="1800" i="1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jilmun isseoyo?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47091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4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조금씩, 매일!</a:t>
            </a:r>
            <a:pPr algn="ctr" indent="0" marL="0">
              <a:buNone/>
            </a:pPr>
            <a:r>
              <a:rPr lang="en-US" sz="1350" dirty="0">
                <a:solidFill>
                  <a:srgbClr val="1E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jogeumssik, maeil — a little bit, every day. Keep practicing your Korean!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0" y="571500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Language Learning Camp — Day 2  ·  Dhemaji District Journalists’ Association (DDJA)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support of Dibrugarh University  ·  Trainer: Debojani Das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Korean Language Learning Camp — Day 2: Language Fundamentals</dc:title>
  <dc:subject>PptxGenJS Presentation</dc:subject>
  <dc:creator>DDJA · Dibrugarh University</dc:creator>
  <cp:lastModifiedBy>DDJA · Dibrugarh University</cp:lastModifiedBy>
  <cp:revision>1</cp:revision>
  <dcterms:created xsi:type="dcterms:W3CDTF">2026-07-20T15:10:25Z</dcterms:created>
  <dcterms:modified xsi:type="dcterms:W3CDTF">2026-07-20T15:10:25Z</dcterms:modified>
</cp:coreProperties>
</file>